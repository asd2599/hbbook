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90" r:id="rId2"/>
  </p:sldMasterIdLst>
  <p:notesMasterIdLst>
    <p:notesMasterId r:id="rId53"/>
  </p:notesMasterIdLst>
  <p:sldIdLst>
    <p:sldId id="332" r:id="rId3"/>
    <p:sldId id="273" r:id="rId4"/>
    <p:sldId id="286" r:id="rId5"/>
    <p:sldId id="2147482851" r:id="rId6"/>
    <p:sldId id="2147482852" r:id="rId7"/>
    <p:sldId id="2147482857" r:id="rId8"/>
    <p:sldId id="2147482860" r:id="rId9"/>
    <p:sldId id="2147482778" r:id="rId10"/>
    <p:sldId id="2147482785" r:id="rId11"/>
    <p:sldId id="367" r:id="rId12"/>
    <p:sldId id="2147482868" r:id="rId13"/>
    <p:sldId id="2147482869" r:id="rId14"/>
    <p:sldId id="2147482870" r:id="rId15"/>
    <p:sldId id="2147482871" r:id="rId16"/>
    <p:sldId id="2147482850" r:id="rId17"/>
    <p:sldId id="2147482840" r:id="rId18"/>
    <p:sldId id="285" r:id="rId19"/>
    <p:sldId id="2147482832" r:id="rId20"/>
    <p:sldId id="284" r:id="rId21"/>
    <p:sldId id="283" r:id="rId22"/>
    <p:sldId id="370" r:id="rId23"/>
    <p:sldId id="2147482849" r:id="rId24"/>
    <p:sldId id="377" r:id="rId25"/>
    <p:sldId id="358" r:id="rId26"/>
    <p:sldId id="274" r:id="rId27"/>
    <p:sldId id="281" r:id="rId28"/>
    <p:sldId id="282" r:id="rId29"/>
    <p:sldId id="288" r:id="rId30"/>
    <p:sldId id="291" r:id="rId31"/>
    <p:sldId id="292" r:id="rId32"/>
    <p:sldId id="296" r:id="rId33"/>
    <p:sldId id="293" r:id="rId34"/>
    <p:sldId id="294" r:id="rId35"/>
    <p:sldId id="295" r:id="rId36"/>
    <p:sldId id="301" r:id="rId37"/>
    <p:sldId id="297" r:id="rId38"/>
    <p:sldId id="2147482829" r:id="rId39"/>
    <p:sldId id="303" r:id="rId40"/>
    <p:sldId id="304" r:id="rId41"/>
    <p:sldId id="2147482839" r:id="rId42"/>
    <p:sldId id="307" r:id="rId43"/>
    <p:sldId id="2147482833" r:id="rId44"/>
    <p:sldId id="306" r:id="rId45"/>
    <p:sldId id="331" r:id="rId46"/>
    <p:sldId id="309" r:id="rId47"/>
    <p:sldId id="311" r:id="rId48"/>
    <p:sldId id="312" r:id="rId49"/>
    <p:sldId id="313" r:id="rId50"/>
    <p:sldId id="314" r:id="rId51"/>
    <p:sldId id="271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94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fld id="{1DA2C7EC-8874-483C-B43C-B70D1A9ADECC}" type="datetimeFigureOut">
              <a:rPr lang="ko-KR" altLang="en-US" smtClean="0"/>
              <a:pPr/>
              <a:t>2026-09-06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fld id="{45619AE5-E003-4A32-B446-E1F6376076F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538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OTF_ac" panose="020B0600000101010101" pitchFamily="34" charset="-127"/>
        <a:ea typeface="나눔스퀘어OTF_ac" panose="020B0600000101010101" pitchFamily="34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OTF_ac" panose="020B0600000101010101" pitchFamily="34" charset="-127"/>
        <a:ea typeface="나눔스퀘어OTF_ac" panose="020B0600000101010101" pitchFamily="34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OTF_ac" panose="020B0600000101010101" pitchFamily="34" charset="-127"/>
        <a:ea typeface="나눔스퀘어OTF_ac" panose="020B0600000101010101" pitchFamily="34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OTF_ac" panose="020B0600000101010101" pitchFamily="34" charset="-127"/>
        <a:ea typeface="나눔스퀘어OTF_ac" panose="020B0600000101010101" pitchFamily="34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OTF_ac" panose="020B0600000101010101" pitchFamily="34" charset="-127"/>
        <a:ea typeface="나눔스퀘어OTF_ac" panose="020B0600000101010101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19AE5-E003-4A32-B446-E1F6376076F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331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대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EF08A-7027-0505-FDDB-79111F493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446337"/>
            <a:ext cx="12192000" cy="1325563"/>
          </a:xfrm>
        </p:spPr>
        <p:txBody>
          <a:bodyPr>
            <a:normAutofit/>
          </a:bodyPr>
          <a:lstStyle>
            <a:lvl1pPr algn="ctr">
              <a:defRPr sz="6600" b="1">
                <a:solidFill>
                  <a:srgbClr val="164194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defRPr>
            </a:lvl1pPr>
          </a:lstStyle>
          <a:p>
            <a:r>
              <a:rPr lang="ko-KR" altLang="en-US" sz="6600"/>
              <a:t>대제목 입력</a:t>
            </a:r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26AB540-0EC5-C0D6-B7A8-FBFF7670CF6E}"/>
              </a:ext>
            </a:extLst>
          </p:cNvPr>
          <p:cNvSpPr/>
          <p:nvPr/>
        </p:nvSpPr>
        <p:spPr>
          <a:xfrm>
            <a:off x="-279401" y="-319436"/>
            <a:ext cx="4229100" cy="1498600"/>
          </a:xfrm>
          <a:custGeom>
            <a:avLst/>
            <a:gdLst>
              <a:gd name="connsiteX0" fmla="*/ 0 w 3751803"/>
              <a:gd name="connsiteY0" fmla="*/ 0 h 2148102"/>
              <a:gd name="connsiteX1" fmla="*/ 3751803 w 3751803"/>
              <a:gd name="connsiteY1" fmla="*/ 0 h 2148102"/>
              <a:gd name="connsiteX2" fmla="*/ 3751803 w 3751803"/>
              <a:gd name="connsiteY2" fmla="*/ 728641 h 2148102"/>
              <a:gd name="connsiteX3" fmla="*/ 3353832 w 3751803"/>
              <a:gd name="connsiteY3" fmla="*/ 1417951 h 2148102"/>
              <a:gd name="connsiteX4" fmla="*/ 2273872 w 3751803"/>
              <a:gd name="connsiteY4" fmla="*/ 2041470 h 2148102"/>
              <a:gd name="connsiteX5" fmla="*/ 1477929 w 3751803"/>
              <a:gd name="connsiteY5" fmla="*/ 2041470 h 2148102"/>
              <a:gd name="connsiteX6" fmla="*/ 397972 w 3751803"/>
              <a:gd name="connsiteY6" fmla="*/ 1417951 h 2148102"/>
              <a:gd name="connsiteX7" fmla="*/ 0 w 3751803"/>
              <a:gd name="connsiteY7" fmla="*/ 728641 h 214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51803" h="2148102">
                <a:moveTo>
                  <a:pt x="0" y="0"/>
                </a:moveTo>
                <a:lnTo>
                  <a:pt x="3751803" y="0"/>
                </a:lnTo>
                <a:lnTo>
                  <a:pt x="3751803" y="728641"/>
                </a:lnTo>
                <a:cubicBezTo>
                  <a:pt x="3751803" y="1013009"/>
                  <a:pt x="3600096" y="1275772"/>
                  <a:pt x="3353832" y="1417951"/>
                </a:cubicBezTo>
                <a:lnTo>
                  <a:pt x="2273872" y="2041470"/>
                </a:lnTo>
                <a:cubicBezTo>
                  <a:pt x="2027608" y="2183647"/>
                  <a:pt x="1724194" y="2183647"/>
                  <a:pt x="1477929" y="2041470"/>
                </a:cubicBezTo>
                <a:lnTo>
                  <a:pt x="397972" y="1417951"/>
                </a:lnTo>
                <a:cubicBezTo>
                  <a:pt x="151706" y="1275772"/>
                  <a:pt x="0" y="1013009"/>
                  <a:pt x="0" y="728641"/>
                </a:cubicBezTo>
                <a:close/>
              </a:path>
            </a:pathLst>
          </a:cu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solidFill>
                  <a:prstClr val="white">
                    <a:lumMod val="95000"/>
                    <a:alpha val="0"/>
                  </a:prstClr>
                </a:solidFill>
              </a:ln>
              <a:solidFill>
                <a:prstClr val="white"/>
              </a:solidFill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0C45130F-7763-B36C-B318-BF91B2BF2B0D}"/>
              </a:ext>
            </a:extLst>
          </p:cNvPr>
          <p:cNvSpPr/>
          <p:nvPr/>
        </p:nvSpPr>
        <p:spPr>
          <a:xfrm>
            <a:off x="8115299" y="5613653"/>
            <a:ext cx="4737100" cy="1244347"/>
          </a:xfrm>
          <a:custGeom>
            <a:avLst/>
            <a:gdLst>
              <a:gd name="connsiteX0" fmla="*/ 1871799 w 3743599"/>
              <a:gd name="connsiteY0" fmla="*/ 0 h 1357681"/>
              <a:gd name="connsiteX1" fmla="*/ 2269770 w 3743599"/>
              <a:gd name="connsiteY1" fmla="*/ 106637 h 1357681"/>
              <a:gd name="connsiteX2" fmla="*/ 3349730 w 3743599"/>
              <a:gd name="connsiteY2" fmla="*/ 730149 h 1357681"/>
              <a:gd name="connsiteX3" fmla="*/ 3740702 w 3743599"/>
              <a:gd name="connsiteY3" fmla="*/ 1314031 h 1357681"/>
              <a:gd name="connsiteX4" fmla="*/ 3743599 w 3743599"/>
              <a:gd name="connsiteY4" fmla="*/ 1357681 h 1357681"/>
              <a:gd name="connsiteX5" fmla="*/ 0 w 3743599"/>
              <a:gd name="connsiteY5" fmla="*/ 1357681 h 1357681"/>
              <a:gd name="connsiteX6" fmla="*/ 2898 w 3743599"/>
              <a:gd name="connsiteY6" fmla="*/ 1314031 h 1357681"/>
              <a:gd name="connsiteX7" fmla="*/ 393870 w 3743599"/>
              <a:gd name="connsiteY7" fmla="*/ 730149 h 1357681"/>
              <a:gd name="connsiteX8" fmla="*/ 1473827 w 3743599"/>
              <a:gd name="connsiteY8" fmla="*/ 106637 h 1357681"/>
              <a:gd name="connsiteX9" fmla="*/ 1871799 w 3743599"/>
              <a:gd name="connsiteY9" fmla="*/ 0 h 1357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43599" h="1357681">
                <a:moveTo>
                  <a:pt x="1871799" y="0"/>
                </a:moveTo>
                <a:cubicBezTo>
                  <a:pt x="2009219" y="0"/>
                  <a:pt x="2146638" y="35546"/>
                  <a:pt x="2269770" y="106637"/>
                </a:cubicBezTo>
                <a:lnTo>
                  <a:pt x="3349730" y="730149"/>
                </a:lnTo>
                <a:cubicBezTo>
                  <a:pt x="3565211" y="854558"/>
                  <a:pt x="3708297" y="1071288"/>
                  <a:pt x="3740702" y="1314031"/>
                </a:cubicBezTo>
                <a:lnTo>
                  <a:pt x="3743599" y="1357681"/>
                </a:lnTo>
                <a:lnTo>
                  <a:pt x="0" y="1357681"/>
                </a:lnTo>
                <a:lnTo>
                  <a:pt x="2898" y="1314031"/>
                </a:lnTo>
                <a:cubicBezTo>
                  <a:pt x="35302" y="1071288"/>
                  <a:pt x="178388" y="854558"/>
                  <a:pt x="393870" y="730149"/>
                </a:cubicBezTo>
                <a:lnTo>
                  <a:pt x="1473827" y="106637"/>
                </a:lnTo>
                <a:cubicBezTo>
                  <a:pt x="1596960" y="35546"/>
                  <a:pt x="1734380" y="0"/>
                  <a:pt x="1871799" y="0"/>
                </a:cubicBezTo>
                <a:close/>
              </a:path>
            </a:pathLst>
          </a:custGeom>
          <a:solidFill>
            <a:srgbClr val="204273"/>
          </a:solidFill>
          <a:ln w="12700" cap="flat" cmpd="sng" algn="ctr">
            <a:noFill/>
            <a:prstDash val="solid"/>
            <a:miter lim="800000"/>
          </a:ln>
          <a:effectLst>
            <a:outerShdw blurRad="508000" dist="228600" dir="2700000" sx="95000" sy="95000" algn="tl" rotWithShape="0">
              <a:prstClr val="black">
                <a:alpha val="23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solidFill>
                  <a:prstClr val="white">
                    <a:lumMod val="95000"/>
                    <a:alpha val="0"/>
                  </a:prstClr>
                </a:solidFill>
              </a:ln>
              <a:solidFill>
                <a:prstClr val="white"/>
              </a:solidFill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ED0541C4-A786-F914-7018-129B1BBCB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8553" y="327522"/>
            <a:ext cx="1612165" cy="36787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9447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41F7007D-6147-FA3C-0502-842698013747}"/>
              </a:ext>
            </a:extLst>
          </p:cNvPr>
          <p:cNvSpPr/>
          <p:nvPr/>
        </p:nvSpPr>
        <p:spPr>
          <a:xfrm>
            <a:off x="0" y="0"/>
            <a:ext cx="6804000" cy="320400"/>
          </a:xfrm>
          <a:prstGeom prst="rect">
            <a:avLst/>
          </a:prstGeom>
          <a:solidFill>
            <a:schemeClr val="bg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50F22C9-2529-AE94-336D-6E746940236C}"/>
              </a:ext>
            </a:extLst>
          </p:cNvPr>
          <p:cNvSpPr/>
          <p:nvPr/>
        </p:nvSpPr>
        <p:spPr>
          <a:xfrm>
            <a:off x="0" y="0"/>
            <a:ext cx="2313706" cy="6858000"/>
          </a:xfrm>
          <a:prstGeom prst="rect">
            <a:avLst/>
          </a:prstGeom>
          <a:solidFill>
            <a:schemeClr val="bg2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789BB8B-1C67-918A-C40C-91322F50A2B4}"/>
              </a:ext>
            </a:extLst>
          </p:cNvPr>
          <p:cNvGrpSpPr/>
          <p:nvPr/>
        </p:nvGrpSpPr>
        <p:grpSpPr>
          <a:xfrm>
            <a:off x="567470" y="923296"/>
            <a:ext cx="1123860" cy="1026923"/>
            <a:chOff x="643670" y="913771"/>
            <a:chExt cx="1123860" cy="1026923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B9464DA3-1C05-EFEF-0CF9-DB2F9DD02B2B}"/>
                </a:ext>
              </a:extLst>
            </p:cNvPr>
            <p:cNvSpPr/>
            <p:nvPr/>
          </p:nvSpPr>
          <p:spPr>
            <a:xfrm>
              <a:off x="643670" y="913771"/>
              <a:ext cx="1123860" cy="522882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algn="ctr" defTabSz="914400">
                <a:defRPr/>
              </a:pPr>
              <a:r>
                <a:rPr lang="en-US" altLang="ko-KR" sz="1600" kern="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나눔스퀘어OTF_ac ExtraBold" panose="020B0600000101010101" pitchFamily="34" charset="-127"/>
                  <a:ea typeface="나눔스퀘어OTF_ac ExtraBold" panose="020B0600000101010101" pitchFamily="34" charset="-127"/>
                  <a:cs typeface="맑은 고딕 Semilight" panose="020B0502040204020203" pitchFamily="50" charset="-127"/>
                </a:rPr>
                <a:t>CONTENTS</a:t>
              </a:r>
              <a:endParaRPr lang="ko-KR" altLang="en-US" sz="1600" kern="0" spc="-1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맑은 고딕 Semilight" panose="020B0502040204020203" pitchFamily="50" charset="-127"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6784E3E8-FB05-307A-C97C-4713B7C014B9}"/>
                </a:ext>
              </a:extLst>
            </p:cNvPr>
            <p:cNvSpPr/>
            <p:nvPr/>
          </p:nvSpPr>
          <p:spPr>
            <a:xfrm>
              <a:off x="643670" y="1417812"/>
              <a:ext cx="1123860" cy="522882"/>
            </a:xfrm>
            <a:prstGeom prst="roundRect">
              <a:avLst>
                <a:gd name="adj" fmla="val 0"/>
              </a:avLst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/>
            <a:lstStyle/>
            <a:p>
              <a:pPr algn="ctr" defTabSz="914400">
                <a:defRPr/>
              </a:pPr>
              <a:r>
                <a:rPr lang="ko-KR" altLang="en-US" sz="4000" b="1" kern="0" spc="-10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나눔스퀘어OTF_ac ExtraBold" panose="020B0600000101010101" pitchFamily="34" charset="-127"/>
                  <a:ea typeface="나눔스퀘어OTF_ac ExtraBold" panose="020B0600000101010101" pitchFamily="34" charset="-127"/>
                  <a:cs typeface="맑은 고딕 Semilight" panose="020B0502040204020203" pitchFamily="50" charset="-127"/>
                </a:rPr>
                <a:t>목차</a:t>
              </a:r>
            </a:p>
          </p:txBody>
        </p:sp>
      </p:grpSp>
      <p:sp>
        <p:nvSpPr>
          <p:cNvPr id="37" name="텍스트 개체 틀 36">
            <a:extLst>
              <a:ext uri="{FF2B5EF4-FFF2-40B4-BE49-F238E27FC236}">
                <a16:creationId xmlns:a16="http://schemas.microsoft.com/office/drawing/2014/main" id="{39AFE619-AB3A-0BBA-33E3-E1BC52D049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13706" y="1097412"/>
            <a:ext cx="1450800" cy="320400"/>
          </a:xfrm>
          <a:solidFill>
            <a:srgbClr val="164194"/>
          </a:solidFill>
          <a:ln>
            <a:noFill/>
          </a:ln>
        </p:spPr>
        <p:txBody>
          <a:bodyPr>
            <a:normAutofit/>
          </a:bodyPr>
          <a:lstStyle>
            <a:lvl1pPr marL="0" indent="0" algn="ctr">
              <a:buNone/>
              <a:defRPr lang="en-US" altLang="ko-KR" sz="1400" b="0" kern="1200" smtClean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CHAPTER 1 </a:t>
            </a:r>
            <a:endParaRPr lang="ko-KR" altLang="en-US" dirty="0"/>
          </a:p>
        </p:txBody>
      </p:sp>
      <p:sp>
        <p:nvSpPr>
          <p:cNvPr id="54" name="텍스트 개체 틀 53">
            <a:extLst>
              <a:ext uri="{FF2B5EF4-FFF2-40B4-BE49-F238E27FC236}">
                <a16:creationId xmlns:a16="http://schemas.microsoft.com/office/drawing/2014/main" id="{BCEC1AD0-C2DA-E88F-C841-381E7EA5F9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13706" y="3456356"/>
            <a:ext cx="1450800" cy="320400"/>
          </a:xfrm>
          <a:solidFill>
            <a:srgbClr val="164194"/>
          </a:solidFill>
        </p:spPr>
        <p:txBody>
          <a:bodyPr>
            <a:normAutofit/>
          </a:bodyPr>
          <a:lstStyle>
            <a:lvl1pPr marL="0" indent="0" algn="ctr">
              <a:buNone/>
              <a:defRPr lang="en-US" altLang="ko-KR" sz="1400" b="0" kern="1200" dirty="0" smtClean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CHAPTER 5</a:t>
            </a:r>
            <a:endParaRPr lang="ko-KR" altLang="en-US" dirty="0"/>
          </a:p>
        </p:txBody>
      </p:sp>
      <p:sp>
        <p:nvSpPr>
          <p:cNvPr id="56" name="텍스트 개체 틀 55">
            <a:extLst>
              <a:ext uri="{FF2B5EF4-FFF2-40B4-BE49-F238E27FC236}">
                <a16:creationId xmlns:a16="http://schemas.microsoft.com/office/drawing/2014/main" id="{32547F1C-2B44-7C7D-4702-47C10D1B7A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13706" y="4046092"/>
            <a:ext cx="1450800" cy="320400"/>
          </a:xfrm>
          <a:solidFill>
            <a:srgbClr val="164194"/>
          </a:solidFill>
        </p:spPr>
        <p:txBody>
          <a:bodyPr>
            <a:normAutofit/>
          </a:bodyPr>
          <a:lstStyle>
            <a:lvl1pPr marL="0" indent="0" algn="ctr">
              <a:buNone/>
              <a:defRPr lang="en-US" altLang="ko-KR" sz="1400" b="0" kern="1200" dirty="0" smtClean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CHAPTER 6</a:t>
            </a:r>
            <a:endParaRPr lang="ko-KR" altLang="en-US" dirty="0"/>
          </a:p>
        </p:txBody>
      </p:sp>
      <p:sp>
        <p:nvSpPr>
          <p:cNvPr id="58" name="텍스트 개체 틀 57">
            <a:extLst>
              <a:ext uri="{FF2B5EF4-FFF2-40B4-BE49-F238E27FC236}">
                <a16:creationId xmlns:a16="http://schemas.microsoft.com/office/drawing/2014/main" id="{705881F2-A579-11B2-1DD1-3358984EF36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13706" y="4635828"/>
            <a:ext cx="1450800" cy="320400"/>
          </a:xfrm>
          <a:solidFill>
            <a:srgbClr val="164194"/>
          </a:solidFill>
        </p:spPr>
        <p:txBody>
          <a:bodyPr>
            <a:normAutofit/>
          </a:bodyPr>
          <a:lstStyle>
            <a:lvl1pPr marL="0" indent="0" algn="ctr">
              <a:buNone/>
              <a:defRPr lang="en-US" altLang="ko-KR" sz="1400" b="0" kern="1200" dirty="0" smtClean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CHAPTER 7</a:t>
            </a:r>
            <a:endParaRPr lang="ko-KR" altLang="en-US" dirty="0"/>
          </a:p>
        </p:txBody>
      </p:sp>
      <p:sp>
        <p:nvSpPr>
          <p:cNvPr id="60" name="텍스트 개체 틀 59">
            <a:extLst>
              <a:ext uri="{FF2B5EF4-FFF2-40B4-BE49-F238E27FC236}">
                <a16:creationId xmlns:a16="http://schemas.microsoft.com/office/drawing/2014/main" id="{04A8C058-F64A-1E66-1F6F-62CD082702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13706" y="5225567"/>
            <a:ext cx="1450800" cy="320400"/>
          </a:xfrm>
          <a:solidFill>
            <a:srgbClr val="164194"/>
          </a:solidFill>
        </p:spPr>
        <p:txBody>
          <a:bodyPr>
            <a:normAutofit/>
          </a:bodyPr>
          <a:lstStyle>
            <a:lvl1pPr marL="0" indent="0" algn="ctr">
              <a:buNone/>
              <a:defRPr lang="en-US" altLang="ko-KR" sz="1400" b="0" kern="1200" dirty="0" smtClean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CHAPTER 8</a:t>
            </a:r>
            <a:endParaRPr lang="ko-KR" altLang="en-US" dirty="0"/>
          </a:p>
        </p:txBody>
      </p:sp>
      <p:sp>
        <p:nvSpPr>
          <p:cNvPr id="66" name="텍스트 개체 틀 65">
            <a:extLst>
              <a:ext uri="{FF2B5EF4-FFF2-40B4-BE49-F238E27FC236}">
                <a16:creationId xmlns:a16="http://schemas.microsoft.com/office/drawing/2014/main" id="{EAF4F62C-570B-54E9-1C2B-F6220B1DED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13706" y="2866620"/>
            <a:ext cx="1450800" cy="320400"/>
          </a:xfrm>
          <a:solidFill>
            <a:srgbClr val="164194"/>
          </a:solidFill>
        </p:spPr>
        <p:txBody>
          <a:bodyPr>
            <a:normAutofit/>
          </a:bodyPr>
          <a:lstStyle>
            <a:lvl1pPr marL="0" indent="0" algn="ctr">
              <a:buNone/>
              <a:defRPr lang="en-US" altLang="ko-KR" sz="1400" b="0" kern="1200" dirty="0" smtClean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예</a:t>
            </a:r>
            <a:r>
              <a:rPr lang="en-US" altLang="ko-KR" dirty="0"/>
              <a:t>) CHAPTER 4</a:t>
            </a:r>
            <a:endParaRPr lang="ko-KR" altLang="en-US" dirty="0"/>
          </a:p>
        </p:txBody>
      </p:sp>
      <p:sp>
        <p:nvSpPr>
          <p:cNvPr id="68" name="텍스트 개체 틀 67">
            <a:extLst>
              <a:ext uri="{FF2B5EF4-FFF2-40B4-BE49-F238E27FC236}">
                <a16:creationId xmlns:a16="http://schemas.microsoft.com/office/drawing/2014/main" id="{B093DB5E-4207-05ED-BD91-422573F62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98106" y="1106937"/>
            <a:ext cx="7160419" cy="320400"/>
          </a:xfrm>
        </p:spPr>
        <p:txBody>
          <a:bodyPr/>
          <a:lstStyle>
            <a:lvl1pPr marL="0" indent="0">
              <a:buNone/>
              <a:defRPr lang="ko-KR" altLang="en-US" sz="1800" b="1" kern="1200" smtClean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schemeClr val="tx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장 제목을 입력</a:t>
            </a:r>
          </a:p>
        </p:txBody>
      </p:sp>
      <p:sp>
        <p:nvSpPr>
          <p:cNvPr id="70" name="텍스트 개체 틀 69">
            <a:extLst>
              <a:ext uri="{FF2B5EF4-FFF2-40B4-BE49-F238E27FC236}">
                <a16:creationId xmlns:a16="http://schemas.microsoft.com/office/drawing/2014/main" id="{DA2C5F36-384A-AE38-6F31-2528D3932C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98106" y="1695312"/>
            <a:ext cx="7160419" cy="320400"/>
          </a:xfrm>
        </p:spPr>
        <p:txBody>
          <a:bodyPr/>
          <a:lstStyle>
            <a:lvl1pPr marL="0" indent="0">
              <a:buNone/>
              <a:defRPr lang="ko-KR" altLang="en-US" sz="1800" b="1" kern="1200" smtClean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schemeClr val="tx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장 제목을 입력</a:t>
            </a:r>
          </a:p>
        </p:txBody>
      </p:sp>
      <p:sp>
        <p:nvSpPr>
          <p:cNvPr id="72" name="텍스트 개체 틀 71">
            <a:extLst>
              <a:ext uri="{FF2B5EF4-FFF2-40B4-BE49-F238E27FC236}">
                <a16:creationId xmlns:a16="http://schemas.microsoft.com/office/drawing/2014/main" id="{E0A5109E-F4D0-EF87-C108-9589E6B29A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98106" y="2283687"/>
            <a:ext cx="7160400" cy="3204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장 제목을 입력</a:t>
            </a:r>
          </a:p>
        </p:txBody>
      </p:sp>
      <p:sp>
        <p:nvSpPr>
          <p:cNvPr id="74" name="텍스트 개체 틀 73">
            <a:extLst>
              <a:ext uri="{FF2B5EF4-FFF2-40B4-BE49-F238E27FC236}">
                <a16:creationId xmlns:a16="http://schemas.microsoft.com/office/drawing/2014/main" id="{F16D5B3A-B8BE-AF8B-E53F-1DFD17EF0B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98106" y="2872062"/>
            <a:ext cx="7160400" cy="3204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장 제목을 입력</a:t>
            </a:r>
          </a:p>
        </p:txBody>
      </p:sp>
      <p:sp>
        <p:nvSpPr>
          <p:cNvPr id="76" name="텍스트 개체 틀 75">
            <a:extLst>
              <a:ext uri="{FF2B5EF4-FFF2-40B4-BE49-F238E27FC236}">
                <a16:creationId xmlns:a16="http://schemas.microsoft.com/office/drawing/2014/main" id="{549DFD38-64A3-3B32-9262-6733C544D5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98106" y="4048812"/>
            <a:ext cx="7160400" cy="3204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장 제목을 입력</a:t>
            </a:r>
          </a:p>
        </p:txBody>
      </p:sp>
      <p:sp>
        <p:nvSpPr>
          <p:cNvPr id="78" name="텍스트 개체 틀 77">
            <a:extLst>
              <a:ext uri="{FF2B5EF4-FFF2-40B4-BE49-F238E27FC236}">
                <a16:creationId xmlns:a16="http://schemas.microsoft.com/office/drawing/2014/main" id="{4BCB28D2-3412-A7F2-3E81-0DF9FF0A9BE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98106" y="4637187"/>
            <a:ext cx="7160400" cy="3204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장 제목을 입력</a:t>
            </a:r>
          </a:p>
        </p:txBody>
      </p:sp>
      <p:sp>
        <p:nvSpPr>
          <p:cNvPr id="80" name="텍스트 개체 틀 79">
            <a:extLst>
              <a:ext uri="{FF2B5EF4-FFF2-40B4-BE49-F238E27FC236}">
                <a16:creationId xmlns:a16="http://schemas.microsoft.com/office/drawing/2014/main" id="{E8BCB0B5-D7F8-C222-6359-0A6D804F728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98106" y="3460437"/>
            <a:ext cx="7160400" cy="3204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장 제목을 입력</a:t>
            </a:r>
          </a:p>
        </p:txBody>
      </p:sp>
      <p:sp>
        <p:nvSpPr>
          <p:cNvPr id="82" name="텍스트 개체 틀 81">
            <a:extLst>
              <a:ext uri="{FF2B5EF4-FFF2-40B4-BE49-F238E27FC236}">
                <a16:creationId xmlns:a16="http://schemas.microsoft.com/office/drawing/2014/main" id="{257F619C-BF55-D226-78AB-39D414172F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8106" y="5225564"/>
            <a:ext cx="7160400" cy="3204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장 제목을 입력</a:t>
            </a:r>
          </a:p>
        </p:txBody>
      </p:sp>
      <p:sp>
        <p:nvSpPr>
          <p:cNvPr id="88" name="텍스트 개체 틀 87">
            <a:extLst>
              <a:ext uri="{FF2B5EF4-FFF2-40B4-BE49-F238E27FC236}">
                <a16:creationId xmlns:a16="http://schemas.microsoft.com/office/drawing/2014/main" id="{D1F82DE5-7898-9F94-B684-5843C61EED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13706" y="2283687"/>
            <a:ext cx="1450800" cy="320400"/>
          </a:xfrm>
          <a:solidFill>
            <a:srgbClr val="164194"/>
          </a:solidFill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예</a:t>
            </a:r>
            <a:r>
              <a:rPr lang="en-US" altLang="ko-KR"/>
              <a:t>) CHAPTER 3</a:t>
            </a:r>
            <a:endParaRPr lang="ko-KR" altLang="en-US"/>
          </a:p>
        </p:txBody>
      </p:sp>
      <p:sp>
        <p:nvSpPr>
          <p:cNvPr id="90" name="텍스트 개체 틀 89">
            <a:extLst>
              <a:ext uri="{FF2B5EF4-FFF2-40B4-BE49-F238E27FC236}">
                <a16:creationId xmlns:a16="http://schemas.microsoft.com/office/drawing/2014/main" id="{D2A22EB2-B2DB-5885-593C-2D56D00CD08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13706" y="1687148"/>
            <a:ext cx="1450800" cy="320400"/>
          </a:xfrm>
          <a:solidFill>
            <a:srgbClr val="164194"/>
          </a:solidFill>
        </p:spPr>
        <p:txBody>
          <a:bodyPr>
            <a:norm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lvl="0"/>
            <a:r>
              <a:rPr lang="ko-KR" altLang="en-US"/>
              <a:t>예</a:t>
            </a:r>
            <a:r>
              <a:rPr lang="en-US" altLang="ko-KR"/>
              <a:t>) CHAPTER 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819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챕터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C42A9-8221-8D10-FB0B-25F1C2BE02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3532" y="2580741"/>
            <a:ext cx="10515600" cy="953324"/>
          </a:xfrm>
        </p:spPr>
        <p:txBody>
          <a:bodyPr>
            <a:normAutofit/>
          </a:bodyPr>
          <a:lstStyle>
            <a:lvl1pPr>
              <a:defRPr sz="6000" b="1" spc="-150" baseline="0">
                <a:solidFill>
                  <a:srgbClr val="164194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r>
              <a:rPr lang="en-US" altLang="ko-KR"/>
              <a:t>Chapter</a:t>
            </a:r>
            <a:r>
              <a:rPr lang="ko-KR" altLang="en-US"/>
              <a:t>제목 입력하기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4D6CE9-7EA9-1195-ED84-833DF07A577F}"/>
              </a:ext>
            </a:extLst>
          </p:cNvPr>
          <p:cNvSpPr/>
          <p:nvPr/>
        </p:nvSpPr>
        <p:spPr>
          <a:xfrm>
            <a:off x="1254182" y="1912305"/>
            <a:ext cx="1738800" cy="4320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2484A049-7072-B91B-A5F4-CBDCD3A64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54499" y="1954770"/>
            <a:ext cx="1714819" cy="371632"/>
          </a:xfr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>
            <a:lvl1pPr marL="0" indent="0" algn="ctr">
              <a:buNone/>
              <a:defRPr lang="ko-KR" altLang="en-US" sz="1800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맑은 고딕 Semilight" panose="020B0502040204020203" pitchFamily="50" charset="-127"/>
              </a:defRPr>
            </a:lvl1pPr>
          </a:lstStyle>
          <a:p>
            <a:pPr marL="0" lvl="0" defTabSz="457200" latinLnBrk="0"/>
            <a:r>
              <a:rPr lang="en-US" altLang="ko-KR" dirty="0"/>
              <a:t>Chapter </a:t>
            </a:r>
            <a:r>
              <a:rPr lang="ko-KR" altLang="en-US" dirty="0"/>
              <a:t>넘버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3697F26-E70A-23D2-5505-9A4AA2806C4D}"/>
              </a:ext>
            </a:extLst>
          </p:cNvPr>
          <p:cNvSpPr/>
          <p:nvPr/>
        </p:nvSpPr>
        <p:spPr>
          <a:xfrm>
            <a:off x="3717043" y="775030"/>
            <a:ext cx="996862" cy="541449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  <a:cs typeface="맑은 고딕 Semilight" panose="020B0502040204020203" pitchFamily="50" charset="-127"/>
              </a:rPr>
              <a:t>Chapter 01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  <a:cs typeface="맑은 고딕 Semilight" panose="020B0502040204020203" pitchFamily="50" charset="-127"/>
            </a:endParaRP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7D46FA1F-192C-7DAA-0B95-AB48E3C1D1B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08691" y="3498928"/>
            <a:ext cx="10147994" cy="337165"/>
          </a:xfrm>
        </p:spPr>
        <p:txBody>
          <a:bodyPr>
            <a:normAutofit/>
          </a:bodyPr>
          <a:lstStyle>
            <a:lvl1pPr marL="0" indent="0">
              <a:buNone/>
              <a:defRPr lang="ko-KR" altLang="en-US" sz="2000" b="0" kern="1200" spc="-150" dirty="0">
                <a:ln>
                  <a:solidFill>
                    <a:srgbClr val="1D9BE6">
                      <a:alpha val="0"/>
                    </a:srgb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289830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내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11121473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제목 입력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F1BC5C-8E1F-F3FA-0F0E-53D58806F9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075" y="1042100"/>
            <a:ext cx="11039475" cy="5318892"/>
          </a:xfrm>
          <a:noFill/>
        </p:spPr>
        <p:txBody>
          <a:bodyPr wrap="square" rtlCol="0">
            <a:spAutoFit/>
          </a:bodyPr>
          <a:lstStyle>
            <a:lvl1pPr>
              <a:lnSpc>
                <a:spcPct val="100000"/>
              </a:lnSpc>
              <a:defRPr lang="ko-KR" altLang="en-US" sz="2400" spc="0" baseline="0" smtClean="0">
                <a:solidFill>
                  <a:srgbClr val="193E94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  <a:lvl2pPr marL="457200" indent="0">
              <a:buNone/>
              <a:defRPr sz="20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2pPr>
          </a:lstStyle>
          <a:p>
            <a:pPr marL="285750" lvl="0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 입력</a:t>
            </a: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내용입력</a:t>
            </a: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내용입력</a:t>
            </a: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dirty="0"/>
          </a:p>
          <a:p>
            <a:pPr marL="742950" lvl="1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832022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처그림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11022082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제목 입력</a:t>
            </a:r>
          </a:p>
        </p:txBody>
      </p:sp>
    </p:spTree>
    <p:extLst>
      <p:ext uri="{BB962C8B-B14F-4D97-AF65-F5344CB8AC3E}">
        <p14:creationId xmlns:p14="http://schemas.microsoft.com/office/powerpoint/2010/main" val="423611115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소스코드 설명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8D426AB-119A-6288-F9F2-0A6044589E47}"/>
              </a:ext>
            </a:extLst>
          </p:cNvPr>
          <p:cNvSpPr/>
          <p:nvPr/>
        </p:nvSpPr>
        <p:spPr>
          <a:xfrm>
            <a:off x="7242629" y="0"/>
            <a:ext cx="4949371" cy="6858000"/>
          </a:xfrm>
          <a:prstGeom prst="rect">
            <a:avLst/>
          </a:prstGeom>
          <a:solidFill>
            <a:schemeClr val="bg2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5876925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제목 입력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F1BC5C-8E1F-F3FA-0F0E-53D58806F9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075" y="1042100"/>
            <a:ext cx="5876925" cy="467885"/>
          </a:xfrm>
          <a:noFill/>
        </p:spPr>
        <p:txBody>
          <a:bodyPr wrap="square" rtlCol="0">
            <a:spAutoFit/>
          </a:bodyPr>
          <a:lstStyle>
            <a:lvl1pPr>
              <a:lnSpc>
                <a:spcPct val="100000"/>
              </a:lnSpc>
              <a:defRPr lang="ko-KR" altLang="en-US" sz="1800" spc="0" baseline="0" smtClean="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285750" lvl="0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D0F31D6-67E9-724D-0105-592AD283EE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05700" y="981075"/>
            <a:ext cx="4400550" cy="5572125"/>
          </a:xfrm>
        </p:spPr>
        <p:txBody>
          <a:bodyPr>
            <a:normAutofit/>
          </a:bodyPr>
          <a:lstStyle>
            <a:lvl1pPr marL="0" indent="0">
              <a:buNone/>
              <a:defRPr sz="1400" spc="0">
                <a:latin typeface="나눔스퀘어OTF_ac" panose="020B0600000101010101" pitchFamily="34" charset="-127"/>
                <a:ea typeface="나눔스퀘어OTF_ac" panose="020B0600000101010101" pitchFamily="34" charset="-127"/>
                <a:cs typeface="맑은 고딕 Semilight" panose="020B0502040204020203" pitchFamily="50" charset="-127"/>
              </a:defRPr>
            </a:lvl1pPr>
          </a:lstStyle>
          <a:p>
            <a:pPr lvl="0"/>
            <a:r>
              <a:rPr lang="ko-KR" altLang="en-US" dirty="0"/>
              <a:t>소스코드 입력</a:t>
            </a:r>
          </a:p>
        </p:txBody>
      </p:sp>
    </p:spTree>
    <p:extLst>
      <p:ext uri="{BB962C8B-B14F-4D97-AF65-F5344CB8AC3E}">
        <p14:creationId xmlns:p14="http://schemas.microsoft.com/office/powerpoint/2010/main" val="254503542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소스코드 설명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5876925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제목 입력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E7843-BBAE-8631-AD80-82E497AEAB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5899" y="5069386"/>
            <a:ext cx="1857375" cy="2585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200" spc="0"/>
            </a:lvl1pPr>
          </a:lstStyle>
          <a:p>
            <a:pPr marL="0" lvl="0" algn="ctr" defTabSz="457200" latinLnBrk="0"/>
            <a:r>
              <a:rPr lang="ko-KR" altLang="en-US"/>
              <a:t>소스코드 설명</a:t>
            </a: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A07FBC30-72EE-4474-91B2-A6FA1AB036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1587" y="5069386"/>
            <a:ext cx="1857375" cy="2585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200" spc="0"/>
            </a:lvl1pPr>
          </a:lstStyle>
          <a:p>
            <a:pPr marL="0" lvl="0" algn="ctr" defTabSz="457200" latinLnBrk="0"/>
            <a:r>
              <a:rPr lang="ko-KR" altLang="en-US"/>
              <a:t>소스코드 설명</a:t>
            </a:r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12147B7F-DE8A-96EC-7235-5277231C03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77274" y="5069386"/>
            <a:ext cx="1857375" cy="2585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200" spc="0"/>
            </a:lvl1pPr>
          </a:lstStyle>
          <a:p>
            <a:pPr marL="0" lvl="0" algn="ctr" defTabSz="457200" latinLnBrk="0"/>
            <a:r>
              <a:rPr lang="ko-KR" altLang="en-US"/>
              <a:t>소스코드 설명</a:t>
            </a:r>
          </a:p>
        </p:txBody>
      </p:sp>
    </p:spTree>
    <p:extLst>
      <p:ext uri="{BB962C8B-B14F-4D97-AF65-F5344CB8AC3E}">
        <p14:creationId xmlns:p14="http://schemas.microsoft.com/office/powerpoint/2010/main" val="73233927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소스코드 설명 슬라이드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5876925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제목 입력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E7843-BBAE-8631-AD80-82E497AEAB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5899" y="5069386"/>
            <a:ext cx="1857375" cy="2585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200" spc="0" baseline="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0" lvl="0" algn="ctr" defTabSz="457200" latinLnBrk="0"/>
            <a:r>
              <a:rPr lang="ko-KR" altLang="en-US" dirty="0"/>
              <a:t>소스코드 설명</a:t>
            </a: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A07FBC30-72EE-4474-91B2-A6FA1AB036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1587" y="5069386"/>
            <a:ext cx="1857375" cy="2585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200" spc="0" baseline="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0" lvl="0" algn="ctr" defTabSz="457200" latinLnBrk="0"/>
            <a:r>
              <a:rPr lang="ko-KR" altLang="en-US" dirty="0"/>
              <a:t>소스코드 설명</a:t>
            </a:r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12147B7F-DE8A-96EC-7235-5277231C03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77274" y="5069386"/>
            <a:ext cx="1857375" cy="2585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200" spc="0" baseline="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0" lvl="0" algn="ctr" defTabSz="457200" latinLnBrk="0"/>
            <a:r>
              <a:rPr lang="ko-KR" altLang="en-US" dirty="0"/>
              <a:t>소스코드 설명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AC9D14A-2578-922E-5535-FB983C0CB1EC}"/>
              </a:ext>
            </a:extLst>
          </p:cNvPr>
          <p:cNvCxnSpPr>
            <a:cxnSpLocks/>
          </p:cNvCxnSpPr>
          <p:nvPr/>
        </p:nvCxnSpPr>
        <p:spPr>
          <a:xfrm>
            <a:off x="4189098" y="1631961"/>
            <a:ext cx="0" cy="4159250"/>
          </a:xfrm>
          <a:prstGeom prst="line">
            <a:avLst/>
          </a:prstGeom>
          <a:ln>
            <a:solidFill>
              <a:srgbClr val="16419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04CA06D-D3E9-D3A7-2DBB-2258B82738A6}"/>
              </a:ext>
            </a:extLst>
          </p:cNvPr>
          <p:cNvCxnSpPr>
            <a:cxnSpLocks/>
          </p:cNvCxnSpPr>
          <p:nvPr/>
        </p:nvCxnSpPr>
        <p:spPr>
          <a:xfrm>
            <a:off x="7948298" y="1596572"/>
            <a:ext cx="0" cy="4159250"/>
          </a:xfrm>
          <a:prstGeom prst="line">
            <a:avLst/>
          </a:prstGeom>
          <a:ln>
            <a:solidFill>
              <a:srgbClr val="164194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0296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박스 설명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5876925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제목 입력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F1BC5C-8E1F-F3FA-0F0E-53D58806F9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075" y="1042100"/>
            <a:ext cx="11039475" cy="467885"/>
          </a:xfrm>
          <a:noFill/>
        </p:spPr>
        <p:txBody>
          <a:bodyPr wrap="square" rtlCol="0">
            <a:spAutoFit/>
          </a:bodyPr>
          <a:lstStyle>
            <a:lvl1pPr>
              <a:lnSpc>
                <a:spcPct val="100000"/>
              </a:lnSpc>
              <a:defRPr lang="ko-KR" altLang="en-US" sz="1800" spc="-130" baseline="0" smtClean="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285750" lvl="0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내용 입력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E7843-BBAE-8631-AD80-82E497AEAB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5899" y="5069386"/>
            <a:ext cx="1857375" cy="3139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600"/>
            </a:lvl1pPr>
          </a:lstStyle>
          <a:p>
            <a:pPr marL="0" lvl="0" algn="ctr" defTabSz="457200" latinLnBrk="0"/>
            <a:r>
              <a:rPr lang="ko-KR" altLang="en-US" dirty="0"/>
              <a:t>그림</a:t>
            </a:r>
            <a:r>
              <a:rPr lang="en-US" altLang="ko-KR" dirty="0"/>
              <a:t>,</a:t>
            </a:r>
            <a:r>
              <a:rPr lang="ko-KR" altLang="en-US" dirty="0"/>
              <a:t>박스 설명</a:t>
            </a:r>
          </a:p>
        </p:txBody>
      </p:sp>
      <p:sp>
        <p:nvSpPr>
          <p:cNvPr id="10" name="텍스트 개체 틀 4">
            <a:extLst>
              <a:ext uri="{FF2B5EF4-FFF2-40B4-BE49-F238E27FC236}">
                <a16:creationId xmlns:a16="http://schemas.microsoft.com/office/drawing/2014/main" id="{A07FBC30-72EE-4474-91B2-A6FA1AB036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81587" y="5069386"/>
            <a:ext cx="1857375" cy="3139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600"/>
            </a:lvl1pPr>
          </a:lstStyle>
          <a:p>
            <a:pPr marL="0" lvl="0" algn="ctr" defTabSz="457200" latinLnBrk="0"/>
            <a:r>
              <a:rPr lang="ko-KR" altLang="en-US"/>
              <a:t>그림</a:t>
            </a:r>
            <a:r>
              <a:rPr lang="en-US" altLang="ko-KR"/>
              <a:t>,</a:t>
            </a:r>
            <a:r>
              <a:rPr lang="ko-KR" altLang="en-US"/>
              <a:t>박스 설명</a:t>
            </a:r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12147B7F-DE8A-96EC-7235-5277231C03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77274" y="5069386"/>
            <a:ext cx="1857375" cy="3139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1600"/>
            </a:lvl1pPr>
          </a:lstStyle>
          <a:p>
            <a:pPr marL="0" lvl="0" algn="ctr" defTabSz="457200" latinLnBrk="0"/>
            <a:r>
              <a:rPr lang="ko-KR" altLang="en-US" dirty="0"/>
              <a:t>그림</a:t>
            </a:r>
            <a:r>
              <a:rPr lang="en-US" altLang="ko-KR" dirty="0"/>
              <a:t>,</a:t>
            </a:r>
            <a:r>
              <a:rPr lang="ko-KR" altLang="en-US" dirty="0"/>
              <a:t>박스 설명</a:t>
            </a:r>
          </a:p>
        </p:txBody>
      </p:sp>
    </p:spTree>
    <p:extLst>
      <p:ext uri="{BB962C8B-B14F-4D97-AF65-F5344CB8AC3E}">
        <p14:creationId xmlns:p14="http://schemas.microsoft.com/office/powerpoint/2010/main" val="51988708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개념어 설명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59D76579-36D6-54CF-9F4B-BB3968CC8F39}"/>
              </a:ext>
            </a:extLst>
          </p:cNvPr>
          <p:cNvGrpSpPr/>
          <p:nvPr/>
        </p:nvGrpSpPr>
        <p:grpSpPr>
          <a:xfrm>
            <a:off x="0" y="0"/>
            <a:ext cx="12192000" cy="1080200"/>
            <a:chOff x="0" y="0"/>
            <a:chExt cx="12192000" cy="1080200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A1B19A-0729-0296-EA4E-4C48F1EA9AAE}"/>
                </a:ext>
              </a:extLst>
            </p:cNvPr>
            <p:cNvSpPr/>
            <p:nvPr/>
          </p:nvSpPr>
          <p:spPr>
            <a:xfrm>
              <a:off x="0" y="0"/>
              <a:ext cx="12192000" cy="738554"/>
            </a:xfrm>
            <a:prstGeom prst="rect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  <p:sp>
          <p:nvSpPr>
            <p:cNvPr id="8" name="이등변 삼각형 7">
              <a:extLst>
                <a:ext uri="{FF2B5EF4-FFF2-40B4-BE49-F238E27FC236}">
                  <a16:creationId xmlns:a16="http://schemas.microsoft.com/office/drawing/2014/main" id="{820CCF31-786F-A440-60B2-E31F665CE90A}"/>
                </a:ext>
              </a:extLst>
            </p:cNvPr>
            <p:cNvSpPr/>
            <p:nvPr/>
          </p:nvSpPr>
          <p:spPr>
            <a:xfrm rot="5400000">
              <a:off x="-153867" y="559568"/>
              <a:ext cx="674499" cy="366765"/>
            </a:xfrm>
            <a:prstGeom prst="triangle">
              <a:avLst/>
            </a:prstGeom>
            <a:solidFill>
              <a:srgbClr val="16419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C2C6F9F2-1E6E-482C-DCFC-15AFD8452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075" y="287126"/>
            <a:ext cx="5876925" cy="332399"/>
          </a:xfrm>
          <a:noFill/>
          <a:ln>
            <a:noFill/>
          </a:ln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ko-KR" altLang="en-US" sz="2400" b="1">
                <a:solidFill>
                  <a:schemeClr val="bg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defRPr>
            </a:lvl1pPr>
          </a:lstStyle>
          <a:p>
            <a:pPr marL="0" lvl="0" defTabSz="457200" latinLnBrk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개념어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DD91DF-751E-8E5B-3D71-99B3F1B765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4" y="1181100"/>
            <a:ext cx="9039225" cy="323850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l"/>
              <a:defRPr sz="1800" b="1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lvl="0"/>
            <a:r>
              <a:rPr lang="ko-KR" altLang="en-US" dirty="0"/>
              <a:t>개념어 설명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01B9902-D8AC-998B-398C-F7B6AA8280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504950"/>
            <a:ext cx="1790700" cy="426142"/>
          </a:xfrm>
          <a:noFill/>
        </p:spPr>
        <p:txBody>
          <a:bodyPr wrap="square" rtlCol="0">
            <a:spAutoFit/>
          </a:bodyPr>
          <a:lstStyle>
            <a:lvl1pPr>
              <a:defRPr lang="ko-KR" altLang="en-US" sz="1600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285750" lvl="0" indent="-285750" defTabSz="4572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하위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53602D0-23B5-7F4D-AC7B-8EBDD80DFA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38300" y="1938024"/>
            <a:ext cx="3657600" cy="426142"/>
          </a:xfrm>
          <a:noFill/>
        </p:spPr>
        <p:txBody>
          <a:bodyPr wrap="square" rtlCol="0">
            <a:spAutoFit/>
          </a:bodyPr>
          <a:lstStyle>
            <a:lvl1pPr>
              <a:defRPr lang="ko-KR" altLang="en-US" sz="1600" b="1"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pPr marL="285750" lvl="0" indent="-285750" defTabSz="457200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 err="1"/>
              <a:t>단어개념어</a:t>
            </a:r>
            <a:r>
              <a:rPr lang="ko-KR" altLang="en-US" dirty="0"/>
              <a:t> 설명</a:t>
            </a:r>
          </a:p>
        </p:txBody>
      </p:sp>
    </p:spTree>
    <p:extLst>
      <p:ext uri="{BB962C8B-B14F-4D97-AF65-F5344CB8AC3E}">
        <p14:creationId xmlns:p14="http://schemas.microsoft.com/office/powerpoint/2010/main" val="11733699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0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fld id="{93B8CBB6-9287-4FC0-9C1C-F3750870A4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642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73" r:id="rId2"/>
    <p:sldLayoutId id="2147483682" r:id="rId3"/>
    <p:sldLayoutId id="2147483688" r:id="rId4"/>
    <p:sldLayoutId id="2147483683" r:id="rId5"/>
    <p:sldLayoutId id="2147483684" r:id="rId6"/>
    <p:sldLayoutId id="2147483687" r:id="rId7"/>
    <p:sldLayoutId id="2147483686" r:id="rId8"/>
    <p:sldLayoutId id="2147483685" r:id="rId9"/>
    <p:sldLayoutId id="2147483689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A29F48-C6D8-8A6B-C912-C329BEDB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68BC8E-5973-A6B3-3D2F-991675046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D667EC-9265-CB40-AD3F-FD83DBAAF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fld id="{1E684A04-FABA-4692-8F7C-D1844A3DCD06}" type="datetimeFigureOut">
              <a:rPr lang="ko-KR" altLang="en-US" smtClean="0"/>
              <a:pPr/>
              <a:t>2026-09-06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B4D87-1DE8-604B-811E-B6FC02E0A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4A1CC3-7C88-DC8E-AF53-05268FA9C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defRPr>
            </a:lvl1pPr>
          </a:lstStyle>
          <a:p>
            <a:fld id="{D98A0D32-2532-405D-BAAD-13034C02351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603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OTF_ac" panose="020B0600000101010101" pitchFamily="34" charset="-127"/>
          <a:ea typeface="나눔스퀘어OTF_ac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6.svg"/><Relationship Id="rId7" Type="http://schemas.openxmlformats.org/officeDocument/2006/relationships/image" Target="../media/image52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1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9" Type="http://schemas.openxmlformats.org/officeDocument/2006/relationships/image" Target="../media/image50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53.png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C824986-BD3D-149D-0C26-8F39FE18F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04255"/>
            <a:ext cx="12192000" cy="3049490"/>
          </a:xfrm>
        </p:spPr>
        <p:txBody>
          <a:bodyPr>
            <a:normAutofit/>
          </a:bodyPr>
          <a:lstStyle/>
          <a:p>
            <a:r>
              <a:rPr lang="en-US" altLang="ko-KR" sz="5400" dirty="0">
                <a:solidFill>
                  <a:schemeClr val="accent6"/>
                </a:solidFill>
              </a:rPr>
              <a:t>Module 2.</a:t>
            </a:r>
            <a:br>
              <a:rPr lang="en-US" altLang="ko-KR" sz="5400" dirty="0"/>
            </a:br>
            <a:r>
              <a:rPr lang="en-US" altLang="ko-KR" sz="4800" dirty="0"/>
              <a:t>AI Agent </a:t>
            </a:r>
            <a:r>
              <a:rPr lang="ko-KR" altLang="en-US" sz="4800" dirty="0"/>
              <a:t>활용을 위한 기반 다지기</a:t>
            </a:r>
            <a:r>
              <a:rPr lang="en-US" altLang="ko-KR" sz="4800" dirty="0"/>
              <a:t>, </a:t>
            </a:r>
            <a:br>
              <a:rPr lang="en-US" altLang="ko-KR" sz="4800" dirty="0"/>
            </a:br>
            <a:r>
              <a:rPr lang="en-US" altLang="ko-KR" sz="4800" dirty="0"/>
              <a:t>Claude Code </a:t>
            </a:r>
            <a:r>
              <a:rPr lang="ko-KR" altLang="en-US" sz="4800" dirty="0"/>
              <a:t>활용 </a:t>
            </a:r>
            <a:r>
              <a:rPr lang="ko-KR" altLang="en-US" sz="4800" dirty="0" err="1"/>
              <a:t>바이브코딩</a:t>
            </a:r>
            <a:r>
              <a:rPr lang="ko-KR" altLang="en-US" sz="4800" dirty="0"/>
              <a:t> 기초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917774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5A8402-B5E7-347A-502E-0676A6AE65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13706" y="1494576"/>
            <a:ext cx="1450800" cy="320400"/>
          </a:xfrm>
        </p:spPr>
        <p:txBody>
          <a:bodyPr anchor="ctr">
            <a:normAutofit fontScale="700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CHAPTER</a:t>
            </a:r>
            <a:r>
              <a:rPr kumimoji="0" lang="en-US" altLang="ko-KR" sz="14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en-US" altLang="ko-KR" sz="2600" b="1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2</a:t>
            </a:r>
            <a:endParaRPr kumimoji="0" lang="ko-KR" altLang="en-US" sz="1400" b="1" i="0" u="none" strike="noStrike" kern="0" cap="none" spc="0" normalizeH="0" baseline="0" noProof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C8A1D3-9BFC-BDA4-DF75-F4C3423160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13706" y="3853520"/>
            <a:ext cx="1450800" cy="320400"/>
          </a:xfrm>
        </p:spPr>
        <p:txBody>
          <a:bodyPr>
            <a:normAutofit fontScale="700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CHAPTER</a:t>
            </a: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6</a:t>
            </a:r>
            <a:endParaRPr kumimoji="0" lang="ko-KR" altLang="en-US" sz="1200" b="1" i="0" u="none" strike="noStrike" kern="0" cap="none" spc="0" normalizeH="0" baseline="0" noProof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D5EDC48-EE17-C74B-FDE4-D11C661F5F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313706" y="3263784"/>
            <a:ext cx="1450800" cy="320400"/>
          </a:xfrm>
        </p:spPr>
        <p:txBody>
          <a:bodyPr>
            <a:normAutofit fontScale="700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CHAPTER</a:t>
            </a: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5</a:t>
            </a:r>
            <a:endParaRPr kumimoji="0" lang="ko-KR" altLang="en-US" sz="1200" b="1" i="0" u="none" strike="noStrike" kern="0" cap="none" spc="0" normalizeH="0" baseline="0" noProof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58EC246-363D-7420-A83E-E48BB4A534E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98087" y="1504101"/>
            <a:ext cx="7160419" cy="320400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챕터의 목적</a:t>
            </a:r>
            <a:endParaRPr lang="en-US" altLang="ko-KR" b="1" dirty="0">
              <a:ln>
                <a:solidFill>
                  <a:srgbClr val="6C93C6">
                    <a:alpha val="0"/>
                  </a:srgbClr>
                </a:solidFill>
              </a:ln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B806C93-778B-0112-B8CB-78A2FFB91B6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898106" y="2092476"/>
            <a:ext cx="7160419" cy="320400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CLAUDE.md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BF9D7395-214D-41B2-3657-11D8ED41641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98106" y="2680851"/>
            <a:ext cx="7160400" cy="320400"/>
          </a:xfrm>
        </p:spPr>
        <p:txBody>
          <a:bodyPr/>
          <a:lstStyle/>
          <a:p>
            <a:r>
              <a:rPr lang="en-US" altLang="ko-KR" dirty="0"/>
              <a:t>Subagent</a:t>
            </a:r>
            <a:endParaRPr lang="ko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CF29D29-352B-57EF-FE8C-C156D170AB9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898106" y="3269226"/>
            <a:ext cx="7160400" cy="320400"/>
          </a:xfrm>
        </p:spPr>
        <p:txBody>
          <a:bodyPr/>
          <a:lstStyle/>
          <a:p>
            <a:r>
              <a:rPr lang="en-US" altLang="ko-KR" dirty="0"/>
              <a:t>Skill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A7B5262-3ED5-46B8-5A06-BFD463516A5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898106" y="3857601"/>
            <a:ext cx="7160400" cy="320400"/>
          </a:xfrm>
        </p:spPr>
        <p:txBody>
          <a:bodyPr/>
          <a:lstStyle/>
          <a:p>
            <a:r>
              <a:rPr lang="en-US" altLang="ko-KR" dirty="0"/>
              <a:t>MCP</a:t>
            </a:r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347302AD-72F5-8E5C-8738-E76F5BE5295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313706" y="2680851"/>
            <a:ext cx="1450800" cy="3204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CHAPTER</a:t>
            </a:r>
            <a:r>
              <a:rPr kumimoji="0" lang="en-US" altLang="ko-KR" sz="8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en-US" altLang="ko-KR" sz="1700" b="1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4</a:t>
            </a:r>
            <a:endParaRPr kumimoji="0" lang="ko-KR" altLang="en-US" sz="800" b="1" i="0" u="none" strike="noStrike" kern="0" cap="none" spc="0" normalizeH="0" baseline="0" noProof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7195B975-4130-D0A7-7D82-BC236B7C46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313706" y="2084312"/>
            <a:ext cx="1450800" cy="320400"/>
          </a:xfrm>
        </p:spPr>
        <p:txBody>
          <a:bodyPr>
            <a:normAutofit fontScale="700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CHAPTER</a:t>
            </a:r>
            <a:r>
              <a:rPr kumimoji="0" lang="en-US" altLang="ko-KR" sz="1200" b="0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 </a:t>
            </a:r>
            <a:r>
              <a:rPr kumimoji="0" lang="en-US" altLang="ko-KR" sz="2400" b="1" i="0" u="none" strike="noStrike" kern="0" cap="none" spc="0" normalizeH="0" baseline="0" noProof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cs typeface="+mn-cs"/>
              </a:rPr>
              <a:t>3</a:t>
            </a:r>
            <a:endParaRPr kumimoji="0" lang="ko-KR" altLang="en-US" sz="1200" b="1" i="0" u="none" strike="noStrike" kern="0" cap="none" spc="0" normalizeH="0" baseline="0" noProof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2" name="텍스트 개체 틀 3">
            <a:extLst>
              <a:ext uri="{FF2B5EF4-FFF2-40B4-BE49-F238E27FC236}">
                <a16:creationId xmlns:a16="http://schemas.microsoft.com/office/drawing/2014/main" id="{B10E1010-0F55-0F86-A4CE-8822BBB90F12}"/>
              </a:ext>
            </a:extLst>
          </p:cNvPr>
          <p:cNvSpPr txBox="1">
            <a:spLocks/>
          </p:cNvSpPr>
          <p:nvPr/>
        </p:nvSpPr>
        <p:spPr>
          <a:xfrm>
            <a:off x="2313706" y="911643"/>
            <a:ext cx="1450800" cy="320400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400" b="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CHAPTER</a:t>
            </a:r>
            <a:r>
              <a:rPr lang="en-US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en-US" sz="2600" b="1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1</a:t>
            </a:r>
            <a:endParaRPr lang="en-US" altLang="ko-KR" b="1" kern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id="{9B1AFD44-25B6-7444-7280-8B92261B66F4}"/>
              </a:ext>
            </a:extLst>
          </p:cNvPr>
          <p:cNvSpPr txBox="1">
            <a:spLocks/>
          </p:cNvSpPr>
          <p:nvPr/>
        </p:nvSpPr>
        <p:spPr>
          <a:xfrm>
            <a:off x="3898087" y="921168"/>
            <a:ext cx="7160419" cy="320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800" b="1" kern="1200" smtClean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개발 환경 구축 점검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ACBCEB0E-2244-362E-9D61-D66C07896876}"/>
              </a:ext>
            </a:extLst>
          </p:cNvPr>
          <p:cNvSpPr txBox="1">
            <a:spLocks/>
          </p:cNvSpPr>
          <p:nvPr/>
        </p:nvSpPr>
        <p:spPr>
          <a:xfrm>
            <a:off x="2313706" y="4437814"/>
            <a:ext cx="1450800" cy="320400"/>
          </a:xfrm>
          <a:prstGeom prst="rect">
            <a:avLst/>
          </a:prstGeom>
          <a:solidFill>
            <a:srgbClr val="164194"/>
          </a:solidFill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CHAPTER</a:t>
            </a:r>
            <a:r>
              <a:rPr lang="en-US" sz="1200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en-US" sz="2400" b="1" kern="0" dirty="0">
                <a:ln>
                  <a:solidFill>
                    <a:srgbClr val="6C93C6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7</a:t>
            </a:r>
            <a:endParaRPr lang="en-US" altLang="ko-KR" sz="1200" b="1" kern="0" dirty="0">
              <a:ln>
                <a:solidFill>
                  <a:srgbClr val="6C93C6">
                    <a:alpha val="0"/>
                  </a:srgbClr>
                </a:solidFill>
              </a:ln>
              <a:solidFill>
                <a:prstClr val="white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BC7D12F4-34BE-73E3-A72A-E17379AC4983}"/>
              </a:ext>
            </a:extLst>
          </p:cNvPr>
          <p:cNvSpPr txBox="1">
            <a:spLocks/>
          </p:cNvSpPr>
          <p:nvPr/>
        </p:nvSpPr>
        <p:spPr>
          <a:xfrm>
            <a:off x="3898106" y="4441895"/>
            <a:ext cx="7160400" cy="32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Code Agent Engineering </a:t>
            </a:r>
            <a:r>
              <a:rPr lang="ko-KR" altLang="en-US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발전과정</a:t>
            </a:r>
          </a:p>
        </p:txBody>
      </p:sp>
    </p:spTree>
    <p:extLst>
      <p:ext uri="{BB962C8B-B14F-4D97-AF65-F5344CB8AC3E}">
        <p14:creationId xmlns:p14="http://schemas.microsoft.com/office/powerpoint/2010/main" val="150616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F8087-2A0E-2D86-AE21-5A308E966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9500EB-F80B-7E15-86F0-DA4F5ADC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환경 구축 점검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4393CC3-4B78-A0C6-4A3C-B19452A981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01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EE6C53-1105-0945-F2AC-7BDABB9E0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개발 실습을 위한 준비</a:t>
            </a:r>
          </a:p>
        </p:txBody>
      </p:sp>
    </p:spTree>
    <p:extLst>
      <p:ext uri="{BB962C8B-B14F-4D97-AF65-F5344CB8AC3E}">
        <p14:creationId xmlns:p14="http://schemas.microsoft.com/office/powerpoint/2010/main" val="2330391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158DF-E191-7A4B-334B-92FFD5FA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 실습 환경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216473-5C62-3968-6A8C-EB32FC3D33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48502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>
              <a:buNone/>
            </a:pPr>
            <a:r>
              <a:rPr lang="en-US" altLang="ko-KR" dirty="0" err="1"/>
              <a:t>vscode</a:t>
            </a:r>
            <a:r>
              <a:rPr lang="en-US" altLang="ko-KR" dirty="0"/>
              <a:t> (Visual Studio Code)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1"/>
            <a:r>
              <a:rPr lang="ko-KR" altLang="en-US" dirty="0"/>
              <a:t>설치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https://code.visualstudio.com/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6D1403-1291-BC9F-40B9-AF77EBBDF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465" y="2527122"/>
            <a:ext cx="4513566" cy="30293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F626A79-783A-663A-7958-0AE65EB54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959" y="2650245"/>
            <a:ext cx="2397701" cy="26013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EC5EF5-C0B4-B5CF-B127-8E5F5500CA27}"/>
              </a:ext>
            </a:extLst>
          </p:cNvPr>
          <p:cNvSpPr txBox="1"/>
          <p:nvPr/>
        </p:nvSpPr>
        <p:spPr>
          <a:xfrm>
            <a:off x="4157573" y="5649433"/>
            <a:ext cx="3239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vscode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DB4B85-33C2-728D-88F1-8DE958DB1F49}"/>
              </a:ext>
            </a:extLst>
          </p:cNvPr>
          <p:cNvSpPr txBox="1"/>
          <p:nvPr/>
        </p:nvSpPr>
        <p:spPr>
          <a:xfrm>
            <a:off x="7509228" y="5649433"/>
            <a:ext cx="3239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 Code (CLI)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95146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터미널 띄우기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762021"/>
          </a:xfrm>
        </p:spPr>
        <p:txBody>
          <a:bodyPr/>
          <a:lstStyle/>
          <a:p>
            <a:pPr marL="0" indent="0">
              <a:buNone/>
            </a:pPr>
            <a:r>
              <a:rPr lang="ko-KR" altLang="en-US" b="1" dirty="0"/>
              <a:t>터미널 단축키 활용 </a:t>
            </a:r>
            <a:r>
              <a:rPr lang="en-US" altLang="ko-KR" b="1" dirty="0">
                <a:solidFill>
                  <a:srgbClr val="FF0000"/>
                </a:solidFill>
              </a:rPr>
              <a:t>( Ctrl + ` ) </a:t>
            </a:r>
            <a:r>
              <a:rPr lang="ko-KR" altLang="en-US" b="1" dirty="0"/>
              <a:t>키 누르기 </a:t>
            </a:r>
            <a:r>
              <a:rPr lang="en-US" altLang="ko-KR" b="1" dirty="0"/>
              <a:t>[</a:t>
            </a:r>
            <a:r>
              <a:rPr lang="ko-KR" altLang="en-US" b="1" dirty="0"/>
              <a:t>암기</a:t>
            </a:r>
            <a:r>
              <a:rPr lang="en-US" altLang="ko-KR" b="1" dirty="0"/>
              <a:t>!]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터미널 안에서 실행합니다</a:t>
            </a:r>
            <a:r>
              <a:rPr lang="en-US" altLang="ko-KR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터미널 단축키를 미리</a:t>
            </a:r>
            <a:br>
              <a:rPr lang="en-US" altLang="ko-KR" dirty="0"/>
            </a:br>
            <a:r>
              <a:rPr lang="ko-KR" altLang="en-US" dirty="0"/>
              <a:t> 메모해주세요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794" y="2254928"/>
            <a:ext cx="7070357" cy="42745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6013454" y="4632172"/>
            <a:ext cx="5296698" cy="18973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B6A3A-29BC-6F65-D359-B8B0D1562A12}"/>
              </a:ext>
            </a:extLst>
          </p:cNvPr>
          <p:cNvSpPr txBox="1"/>
          <p:nvPr/>
        </p:nvSpPr>
        <p:spPr>
          <a:xfrm>
            <a:off x="3438669" y="786905"/>
            <a:ext cx="368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ESC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키 바로 아래 위치</a:t>
            </a:r>
          </a:p>
        </p:txBody>
      </p:sp>
    </p:spTree>
    <p:extLst>
      <p:ext uri="{BB962C8B-B14F-4D97-AF65-F5344CB8AC3E}">
        <p14:creationId xmlns:p14="http://schemas.microsoft.com/office/powerpoint/2010/main" val="4114776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71267-3402-119A-3512-1050C3910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복사 붙여넣기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CBCDCE-E344-6EB8-3181-47BB32847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294952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복사 붙여넣기는 흔히 </a:t>
            </a:r>
            <a:r>
              <a:rPr lang="en-US" altLang="ko-KR" dirty="0"/>
              <a:t>Ctrl + C / Ctrl + V </a:t>
            </a:r>
            <a:r>
              <a:rPr lang="ko-KR" altLang="en-US" dirty="0"/>
              <a:t>를 사용합니다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그런데 터미널에서는 </a:t>
            </a:r>
            <a:r>
              <a:rPr lang="en-US" altLang="ko-KR" dirty="0"/>
              <a:t>Ctrl + C </a:t>
            </a:r>
            <a:r>
              <a:rPr lang="ko-KR" altLang="en-US" dirty="0"/>
              <a:t>단축키는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'</a:t>
            </a:r>
            <a:r>
              <a:rPr lang="ko-KR" altLang="en-US" b="1" dirty="0"/>
              <a:t>중지</a:t>
            </a:r>
            <a:r>
              <a:rPr lang="en-US" altLang="ko-KR" b="1" dirty="0"/>
              <a:t>' / '</a:t>
            </a:r>
            <a:r>
              <a:rPr lang="ko-KR" altLang="en-US" b="1" dirty="0"/>
              <a:t>종료</a:t>
            </a:r>
            <a:r>
              <a:rPr lang="en-US" altLang="ko-KR" b="1" dirty="0"/>
              <a:t>' / '</a:t>
            </a:r>
            <a:r>
              <a:rPr lang="ko-KR" altLang="en-US" b="1" dirty="0"/>
              <a:t>취소</a:t>
            </a:r>
            <a:r>
              <a:rPr lang="en-US" altLang="ko-KR" b="1" dirty="0"/>
              <a:t>' </a:t>
            </a:r>
            <a:r>
              <a:rPr lang="ko-KR" altLang="en-US" b="1" dirty="0"/>
              <a:t>명령어로 쓰입니다</a:t>
            </a:r>
            <a:r>
              <a:rPr lang="en-US" altLang="ko-KR" b="1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b="1" dirty="0">
                <a:solidFill>
                  <a:srgbClr val="FF0000"/>
                </a:solidFill>
              </a:rPr>
              <a:t>따라서 마우스 우측 버튼으로 복사 </a:t>
            </a:r>
            <a:r>
              <a:rPr lang="en-US" altLang="ko-KR" b="1" dirty="0">
                <a:solidFill>
                  <a:srgbClr val="FF0000"/>
                </a:solidFill>
              </a:rPr>
              <a:t>/ </a:t>
            </a:r>
            <a:r>
              <a:rPr lang="ko-KR" altLang="en-US" b="1" dirty="0">
                <a:solidFill>
                  <a:srgbClr val="FF0000"/>
                </a:solidFill>
              </a:rPr>
              <a:t>붙여넣기를 해주세요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C0AB60-850C-9857-8F2F-67E5E004C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750" y="4130693"/>
            <a:ext cx="3752146" cy="24401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F57D8D-CA62-3599-622F-8699C4C4760D}"/>
              </a:ext>
            </a:extLst>
          </p:cNvPr>
          <p:cNvSpPr txBox="1"/>
          <p:nvPr/>
        </p:nvSpPr>
        <p:spPr>
          <a:xfrm>
            <a:off x="7187380" y="4704452"/>
            <a:ext cx="37521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메모장과 터미널을 </a:t>
            </a:r>
            <a:r>
              <a:rPr lang="ko-KR" altLang="en-US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띄워두고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복사 붙여넣기 테스트해주세요</a:t>
            </a: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3016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49D51C-12A3-5CDB-CC21-46DE06C2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Code </a:t>
            </a:r>
            <a:r>
              <a:rPr lang="ko-KR" altLang="en-US" dirty="0"/>
              <a:t>설치를 위한 준비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430A6A-F761-A5F0-AC15-FF6F13DAAE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2480166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세 가지 </a:t>
            </a:r>
            <a:r>
              <a:rPr lang="en-US" altLang="ko-KR" dirty="0"/>
              <a:t>SW</a:t>
            </a:r>
            <a:r>
              <a:rPr lang="ko-KR" altLang="en-US" dirty="0"/>
              <a:t>를 </a:t>
            </a:r>
            <a:r>
              <a:rPr lang="ko-KR" altLang="en-US" dirty="0" err="1"/>
              <a:t>설치해야한다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세 가지 </a:t>
            </a:r>
            <a:r>
              <a:rPr lang="en-US" altLang="ko-KR" dirty="0"/>
              <a:t>SW</a:t>
            </a:r>
            <a:r>
              <a:rPr lang="ko-KR" altLang="en-US" dirty="0"/>
              <a:t>는 </a:t>
            </a:r>
            <a:r>
              <a:rPr lang="en-US" altLang="ko-KR" dirty="0"/>
              <a:t>AI</a:t>
            </a:r>
            <a:r>
              <a:rPr lang="ko-KR" altLang="en-US" dirty="0"/>
              <a:t>가 사용하는 프로그램이기 때문에 필요하다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Git : AI</a:t>
            </a:r>
            <a:r>
              <a:rPr lang="ko-KR" altLang="en-US" dirty="0"/>
              <a:t>가 </a:t>
            </a:r>
            <a:r>
              <a:rPr lang="en-US" altLang="ko-KR" dirty="0"/>
              <a:t>CMD</a:t>
            </a:r>
            <a:r>
              <a:rPr lang="ko-KR" altLang="en-US" dirty="0"/>
              <a:t> 대신</a:t>
            </a:r>
            <a:r>
              <a:rPr lang="en-US" altLang="ko-KR" dirty="0"/>
              <a:t>, git bash </a:t>
            </a:r>
            <a:r>
              <a:rPr lang="ko-KR" altLang="en-US" dirty="0"/>
              <a:t>터미널을 사용하기에 필요</a:t>
            </a:r>
            <a:endParaRPr lang="en-US" altLang="ko-KR" dirty="0"/>
          </a:p>
          <a:p>
            <a:pPr lvl="1"/>
            <a:r>
              <a:rPr lang="en-US" altLang="ko-KR" dirty="0"/>
              <a:t>Node.js : AI</a:t>
            </a:r>
            <a:r>
              <a:rPr lang="ko-KR" altLang="en-US" dirty="0"/>
              <a:t>가 </a:t>
            </a:r>
            <a:r>
              <a:rPr lang="en-US" altLang="ko-KR" dirty="0"/>
              <a:t>node.js</a:t>
            </a:r>
            <a:r>
              <a:rPr lang="ko-KR" altLang="en-US" dirty="0"/>
              <a:t>에서 제공하는 </a:t>
            </a:r>
            <a:r>
              <a:rPr lang="en-US" altLang="ko-KR" dirty="0"/>
              <a:t>SW </a:t>
            </a:r>
            <a:r>
              <a:rPr lang="ko-KR" altLang="en-US" dirty="0"/>
              <a:t>설치 도구 </a:t>
            </a:r>
            <a:r>
              <a:rPr lang="en-US" altLang="ko-KR" dirty="0"/>
              <a:t>(</a:t>
            </a:r>
            <a:r>
              <a:rPr lang="en-US" altLang="ko-KR" dirty="0" err="1"/>
              <a:t>npm</a:t>
            </a:r>
            <a:r>
              <a:rPr lang="en-US" altLang="ko-KR" dirty="0"/>
              <a:t>, </a:t>
            </a:r>
            <a:r>
              <a:rPr lang="en-US" altLang="ko-KR" dirty="0" err="1"/>
              <a:t>npx</a:t>
            </a:r>
            <a:r>
              <a:rPr lang="en-US" altLang="ko-KR" dirty="0"/>
              <a:t>)</a:t>
            </a:r>
            <a:r>
              <a:rPr lang="ko-KR" altLang="en-US" dirty="0"/>
              <a:t>를 사용함</a:t>
            </a:r>
            <a:endParaRPr lang="en-US" altLang="ko-KR" dirty="0"/>
          </a:p>
          <a:p>
            <a:pPr lvl="1"/>
            <a:r>
              <a:rPr lang="en-US" altLang="ko-KR" dirty="0"/>
              <a:t>Python : AI</a:t>
            </a:r>
            <a:r>
              <a:rPr lang="ko-KR" altLang="en-US" dirty="0"/>
              <a:t>가 </a:t>
            </a:r>
            <a:r>
              <a:rPr lang="en-US" altLang="ko-KR" dirty="0"/>
              <a:t>python</a:t>
            </a:r>
            <a:r>
              <a:rPr lang="ko-KR" altLang="en-US" dirty="0"/>
              <a:t>에서 제공하는 </a:t>
            </a:r>
            <a:r>
              <a:rPr lang="en-US" altLang="ko-KR" dirty="0"/>
              <a:t>SW </a:t>
            </a:r>
            <a:r>
              <a:rPr lang="ko-KR" altLang="en-US" dirty="0"/>
              <a:t>설치 도구 </a:t>
            </a:r>
            <a:r>
              <a:rPr lang="en-US" altLang="ko-KR" dirty="0"/>
              <a:t>(pip)</a:t>
            </a:r>
            <a:r>
              <a:rPr lang="ko-KR" altLang="en-US" dirty="0"/>
              <a:t>를 사용함</a:t>
            </a:r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0C868AF5-FE26-52C3-EA05-B06921B40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361" y="4964823"/>
            <a:ext cx="2040901" cy="125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8" descr="Git - 나무위키">
            <a:extLst>
              <a:ext uri="{FF2B5EF4-FFF2-40B4-BE49-F238E27FC236}">
                <a16:creationId xmlns:a16="http://schemas.microsoft.com/office/drawing/2014/main" id="{0CA16906-06CF-2E03-B98D-A8A49BE0A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876" y="4964823"/>
            <a:ext cx="2495807" cy="104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thon 수직 로고 아이콘">
            <a:extLst>
              <a:ext uri="{FF2B5EF4-FFF2-40B4-BE49-F238E27FC236}">
                <a16:creationId xmlns:a16="http://schemas.microsoft.com/office/drawing/2014/main" id="{DBB746E5-3E59-2E05-9547-AB9A7CAE5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738" y="4401671"/>
            <a:ext cx="1823586" cy="203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D991FA3-4037-DA04-F011-2C6D8FB5A435}"/>
              </a:ext>
            </a:extLst>
          </p:cNvPr>
          <p:cNvSpPr/>
          <p:nvPr/>
        </p:nvSpPr>
        <p:spPr>
          <a:xfrm>
            <a:off x="745067" y="4090708"/>
            <a:ext cx="6697133" cy="24801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0AAE0-499D-3955-D775-DF04EDFBFC77}"/>
              </a:ext>
            </a:extLst>
          </p:cNvPr>
          <p:cNvSpPr txBox="1"/>
          <p:nvPr/>
        </p:nvSpPr>
        <p:spPr>
          <a:xfrm>
            <a:off x="1396999" y="4114159"/>
            <a:ext cx="508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아래 두 프로그램은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자동 프로그램이 설치 해줍니다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5EA66-0940-F98E-60CA-77CF5ED377B2}"/>
              </a:ext>
            </a:extLst>
          </p:cNvPr>
          <p:cNvSpPr txBox="1"/>
          <p:nvPr/>
        </p:nvSpPr>
        <p:spPr>
          <a:xfrm>
            <a:off x="7998269" y="3905214"/>
            <a:ext cx="342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수동으로 </a:t>
            </a:r>
            <a:r>
              <a:rPr lang="ko-KR" altLang="en-US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설치해야합니다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5694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8D4E1-D224-BDBF-4649-3638E0E55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179A8-362E-1A40-B7AE-1636FC23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현대 </a:t>
            </a:r>
            <a:r>
              <a:rPr lang="ko-KR" altLang="en-US" dirty="0" err="1"/>
              <a:t>강의장</a:t>
            </a:r>
            <a:r>
              <a:rPr lang="ko-KR" altLang="en-US" dirty="0"/>
              <a:t> 필수</a:t>
            </a:r>
            <a:r>
              <a:rPr lang="en-US" altLang="ko-KR" dirty="0"/>
              <a:t>) </a:t>
            </a:r>
            <a:r>
              <a:rPr lang="en-US" altLang="ko-KR" dirty="0" err="1"/>
              <a:t>npm</a:t>
            </a:r>
            <a:r>
              <a:rPr lang="en-US" altLang="ko-KR" dirty="0"/>
              <a:t>, </a:t>
            </a:r>
            <a:r>
              <a:rPr lang="en-US" altLang="ko-KR" dirty="0" err="1"/>
              <a:t>npx</a:t>
            </a:r>
            <a:r>
              <a:rPr lang="en-US" altLang="ko-KR" dirty="0"/>
              <a:t> </a:t>
            </a:r>
            <a:r>
              <a:rPr lang="ko-KR" altLang="en-US" dirty="0"/>
              <a:t>명령어 동작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17770C-871C-A6C3-B549-DBBD6CA3BD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CMD</a:t>
            </a:r>
            <a:r>
              <a:rPr lang="ko-KR" altLang="en-US" dirty="0"/>
              <a:t>를 실행하여 아래 명령어를 실행해주세요</a:t>
            </a:r>
            <a:r>
              <a:rPr lang="en-US" altLang="ko-KR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BC0DA8-0205-6712-B7CF-BE95C22F5F5A}"/>
              </a:ext>
            </a:extLst>
          </p:cNvPr>
          <p:cNvSpPr txBox="1"/>
          <p:nvPr/>
        </p:nvSpPr>
        <p:spPr>
          <a:xfrm>
            <a:off x="993487" y="3402202"/>
            <a:ext cx="39534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사내에서는 위 명령어를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입력해야 </a:t>
            </a: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NPM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 동작됩니다</a:t>
            </a: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algn="ctr"/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아래 명령어를 입력하지 않으면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계속 </a:t>
            </a:r>
            <a:r>
              <a:rPr lang="ko-KR" altLang="en-US" b="1" dirty="0" err="1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로딩중으로</a:t>
            </a:r>
            <a:r>
              <a:rPr lang="ko-KR" altLang="en-US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나옵니다</a:t>
            </a:r>
            <a:r>
              <a:rPr lang="en-US" altLang="ko-KR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r>
              <a:rPr lang="ko-KR" altLang="en-US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A43E58-012A-BDD9-DB00-67EFF8657E0C}"/>
              </a:ext>
            </a:extLst>
          </p:cNvPr>
          <p:cNvSpPr txBox="1"/>
          <p:nvPr/>
        </p:nvSpPr>
        <p:spPr>
          <a:xfrm>
            <a:off x="484980" y="2676938"/>
            <a:ext cx="5623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npm</a:t>
            </a:r>
            <a:r>
              <a:rPr lang="en-US" altLang="ko-KR" sz="2800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config set strict-</a:t>
            </a:r>
            <a:r>
              <a:rPr lang="en-US" altLang="ko-KR" sz="2800" b="1" dirty="0" err="1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ssl</a:t>
            </a:r>
            <a:r>
              <a:rPr lang="en-US" altLang="ko-KR" sz="2800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false</a:t>
            </a:r>
            <a:endParaRPr lang="ko-KR" altLang="en-US" sz="2800" b="1" dirty="0">
              <a:solidFill>
                <a:srgbClr val="FF0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287ACF1-F90D-7D1F-41A3-7C1E262D8E45}"/>
              </a:ext>
            </a:extLst>
          </p:cNvPr>
          <p:cNvCxnSpPr/>
          <p:nvPr/>
        </p:nvCxnSpPr>
        <p:spPr>
          <a:xfrm>
            <a:off x="6406617" y="2717433"/>
            <a:ext cx="0" cy="3385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A9B38BB-4AF6-888B-4055-71105D7F18AE}"/>
              </a:ext>
            </a:extLst>
          </p:cNvPr>
          <p:cNvSpPr txBox="1"/>
          <p:nvPr/>
        </p:nvSpPr>
        <p:spPr>
          <a:xfrm>
            <a:off x="7108288" y="3500106"/>
            <a:ext cx="45630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en-US" altLang="ko-KR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Ok to proceed? </a:t>
            </a:r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메시지가 뜨면 </a:t>
            </a:r>
            <a:r>
              <a:rPr lang="ko-KR" altLang="en-US" sz="14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엔터를</a:t>
            </a:r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누른다</a:t>
            </a:r>
            <a:r>
              <a:rPr lang="en-US" altLang="ko-KR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br>
              <a:rPr lang="en-US" altLang="ko-KR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endParaRPr lang="ko-KR" altLang="en-US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759E510-D68C-60E5-ED53-76ECD2CD4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387" y="2354584"/>
            <a:ext cx="3676839" cy="8636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6F578F-FEBE-23BE-202A-4E81AB1276DC}"/>
              </a:ext>
            </a:extLst>
          </p:cNvPr>
          <p:cNvSpPr txBox="1"/>
          <p:nvPr/>
        </p:nvSpPr>
        <p:spPr>
          <a:xfrm>
            <a:off x="6341806" y="324094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npx</a:t>
            </a:r>
            <a:r>
              <a:rPr lang="en-US" altLang="ko-KR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en-US" altLang="ko-KR" sz="24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cowsay</a:t>
            </a:r>
            <a:r>
              <a:rPr lang="en-US" altLang="ko-KR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"</a:t>
            </a:r>
            <a:r>
              <a:rPr lang="en-US" altLang="ko-KR" sz="24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huhu</a:t>
            </a:r>
            <a:r>
              <a:rPr lang="en-US" altLang="ko-KR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"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C78F002-DA9F-C3E7-A631-EEECBD5AE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167" y="4534156"/>
            <a:ext cx="2686188" cy="1809843"/>
          </a:xfrm>
          <a:prstGeom prst="rect">
            <a:avLst/>
          </a:prstGeom>
        </p:spPr>
      </p:pic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9876B2BA-D786-874E-9449-3A5CA41FB95D}"/>
              </a:ext>
            </a:extLst>
          </p:cNvPr>
          <p:cNvSpPr/>
          <p:nvPr/>
        </p:nvSpPr>
        <p:spPr>
          <a:xfrm rot="5400000">
            <a:off x="9012319" y="4036269"/>
            <a:ext cx="435979" cy="43597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6D4FDAF-905F-39C2-01AA-6BA12C3C8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180" y="5109801"/>
            <a:ext cx="3338484" cy="123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46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8D4F8-A78E-E064-5550-E612A381D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A85B4-E8D6-BE9B-8E0C-BD3EFE9AC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필요하다면 </a:t>
            </a:r>
            <a:r>
              <a:rPr lang="en-US" altLang="ko-KR"/>
              <a:t>Python </a:t>
            </a:r>
            <a:r>
              <a:rPr lang="ko-KR" altLang="en-US"/>
              <a:t>설치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F10B76-8892-FB08-0028-83796E141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Python 3.14 </a:t>
            </a:r>
            <a:r>
              <a:rPr lang="ko-KR" altLang="en-US" dirty="0"/>
              <a:t>버전 다운로드 </a:t>
            </a:r>
            <a:r>
              <a:rPr lang="en-US" altLang="ko-KR" dirty="0"/>
              <a:t>/ </a:t>
            </a:r>
            <a:r>
              <a:rPr lang="ko-KR" altLang="en-US" dirty="0"/>
              <a:t>설치</a:t>
            </a:r>
            <a:endParaRPr lang="en-US" altLang="ko-KR" dirty="0"/>
          </a:p>
          <a:p>
            <a:pPr marL="228600" lvl="1"/>
            <a:r>
              <a:rPr lang="en-US" altLang="ko-KR" dirty="0">
                <a:hlinkClick r:id="rId2"/>
              </a:rPr>
              <a:t>https://www.python.org/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A9E8172-C4AA-2077-8C69-08E7A7FCF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50" y="2155830"/>
            <a:ext cx="6124488" cy="39378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286C0B6-EF59-8DB3-C7C6-6B5F2BD06E6C}"/>
              </a:ext>
            </a:extLst>
          </p:cNvPr>
          <p:cNvSpPr/>
          <p:nvPr/>
        </p:nvSpPr>
        <p:spPr>
          <a:xfrm>
            <a:off x="5327361" y="4970314"/>
            <a:ext cx="1043942" cy="319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81296ED2-73A3-66A4-8C2D-B93613B58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335" y="2671366"/>
            <a:ext cx="4412215" cy="28216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D35CCB3E-BFB3-1FCD-6D94-0426937633FD}"/>
              </a:ext>
            </a:extLst>
          </p:cNvPr>
          <p:cNvSpPr/>
          <p:nvPr/>
        </p:nvSpPr>
        <p:spPr>
          <a:xfrm>
            <a:off x="8385238" y="4970314"/>
            <a:ext cx="2115614" cy="4374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976BD24-6C21-D287-5588-13BC5FC250F7}"/>
              </a:ext>
            </a:extLst>
          </p:cNvPr>
          <p:cNvSpPr/>
          <p:nvPr/>
        </p:nvSpPr>
        <p:spPr>
          <a:xfrm>
            <a:off x="8385238" y="3863482"/>
            <a:ext cx="1515846" cy="3545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797CC02-8B2D-4600-6718-D8EA0814B4A3}"/>
              </a:ext>
            </a:extLst>
          </p:cNvPr>
          <p:cNvSpPr/>
          <p:nvPr/>
        </p:nvSpPr>
        <p:spPr>
          <a:xfrm>
            <a:off x="10300872" y="4806479"/>
            <a:ext cx="452284" cy="45228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1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7A1C31E-2F84-5E5F-2420-4D38A8AD52C2}"/>
              </a:ext>
            </a:extLst>
          </p:cNvPr>
          <p:cNvSpPr/>
          <p:nvPr/>
        </p:nvSpPr>
        <p:spPr>
          <a:xfrm>
            <a:off x="9760097" y="3540782"/>
            <a:ext cx="452284" cy="452284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2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3566AB-FD7F-D29B-580A-0010389991BD}"/>
              </a:ext>
            </a:extLst>
          </p:cNvPr>
          <p:cNvSpPr txBox="1"/>
          <p:nvPr/>
        </p:nvSpPr>
        <p:spPr>
          <a:xfrm>
            <a:off x="8385238" y="5571577"/>
            <a:ext cx="2671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체크박스 모두 체크</a:t>
            </a:r>
          </a:p>
        </p:txBody>
      </p:sp>
    </p:spTree>
    <p:extLst>
      <p:ext uri="{BB962C8B-B14F-4D97-AF65-F5344CB8AC3E}">
        <p14:creationId xmlns:p14="http://schemas.microsoft.com/office/powerpoint/2010/main" val="1086491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967E3-0C00-FACA-5243-355A4380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Code </a:t>
            </a:r>
            <a:r>
              <a:rPr lang="ko-KR" altLang="en-US" dirty="0"/>
              <a:t>첫 </a:t>
            </a:r>
            <a:r>
              <a:rPr lang="ko-KR" altLang="en-US" dirty="0" err="1"/>
              <a:t>메시지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ECD821-C2C6-7FF4-2ACC-6578993E2C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64147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현재 폴더가 안전한 폴더인지 확인 </a:t>
            </a:r>
            <a:r>
              <a:rPr lang="ko-KR" altLang="en-US" dirty="0" err="1"/>
              <a:t>메시지</a:t>
            </a:r>
            <a:r>
              <a:rPr lang="ko-KR" altLang="en-US" dirty="0"/>
              <a:t> </a:t>
            </a:r>
            <a:r>
              <a:rPr lang="en-US" altLang="ko-KR" dirty="0"/>
              <a:t>(--&gt; Yes)</a:t>
            </a:r>
          </a:p>
          <a:p>
            <a:pPr lvl="1"/>
            <a:r>
              <a:rPr lang="en-US" altLang="ko-KR" dirty="0"/>
              <a:t>AI</a:t>
            </a:r>
            <a:r>
              <a:rPr lang="ko-KR" altLang="en-US" dirty="0"/>
              <a:t>와 함께 마음대로 수정해도 되는 폴더인지</a:t>
            </a:r>
            <a:r>
              <a:rPr lang="en-US" altLang="ko-KR" dirty="0"/>
              <a:t> </a:t>
            </a:r>
            <a:r>
              <a:rPr lang="ko-KR" altLang="en-US" dirty="0"/>
              <a:t>확인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Text </a:t>
            </a:r>
            <a:r>
              <a:rPr lang="ko-KR" altLang="en-US" dirty="0"/>
              <a:t>컬러 테마 설정 </a:t>
            </a:r>
            <a:r>
              <a:rPr lang="en-US" altLang="ko-KR" dirty="0"/>
              <a:t>(--&gt; Dark mode </a:t>
            </a:r>
            <a:r>
              <a:rPr lang="ko-KR" altLang="en-US" dirty="0"/>
              <a:t>선택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중요하지 않음</a:t>
            </a:r>
            <a:r>
              <a:rPr lang="en-US" altLang="ko-KR" dirty="0"/>
              <a:t>, </a:t>
            </a:r>
            <a:r>
              <a:rPr lang="ko-KR" altLang="en-US" dirty="0"/>
              <a:t>차후에 </a:t>
            </a:r>
            <a:r>
              <a:rPr lang="en-US" altLang="ko-KR" dirty="0"/>
              <a:t>/theme </a:t>
            </a:r>
            <a:r>
              <a:rPr lang="ko-KR" altLang="en-US" dirty="0"/>
              <a:t>명령어로 변경 가능</a:t>
            </a:r>
            <a:endParaRPr lang="en-US" altLang="ko-KR" dirty="0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8A3D2E2D-24E7-BAE8-402D-D42CF420D3CD}"/>
              </a:ext>
            </a:extLst>
          </p:cNvPr>
          <p:cNvSpPr/>
          <p:nvPr/>
        </p:nvSpPr>
        <p:spPr>
          <a:xfrm>
            <a:off x="3598185" y="4720599"/>
            <a:ext cx="435979" cy="43597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E029CDE-E9C7-52D4-0523-1DC5A570201E}"/>
              </a:ext>
            </a:extLst>
          </p:cNvPr>
          <p:cNvSpPr/>
          <p:nvPr/>
        </p:nvSpPr>
        <p:spPr>
          <a:xfrm>
            <a:off x="7872528" y="4720599"/>
            <a:ext cx="435979" cy="43597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61F3BBD-3DEE-2752-EEC6-37C704A84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914" y="2434014"/>
            <a:ext cx="3303389" cy="40396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26664C1-A42A-FA47-6C94-F28DC66E3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68" y="4142445"/>
            <a:ext cx="3115110" cy="17528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97CF328-9346-8582-9653-738C2D6CD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473" y="3106150"/>
            <a:ext cx="3356361" cy="321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19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0091743-0B42-613F-08DF-54A90459F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543" y="3342218"/>
            <a:ext cx="2763646" cy="21675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A81BE52-53DB-85F4-CF04-108F568EA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59" y="2767580"/>
            <a:ext cx="3441334" cy="35289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0487F2D-093C-2ED6-D936-A3D07965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선택하기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26A18C-FB37-F602-553F-5F3622DAD1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/model </a:t>
            </a:r>
            <a:r>
              <a:rPr lang="ko-KR" altLang="en-US" dirty="0"/>
              <a:t>명령어 입력 </a:t>
            </a:r>
            <a:r>
              <a:rPr lang="en-US" altLang="ko-KR" dirty="0"/>
              <a:t>&gt; Sonnet </a:t>
            </a:r>
            <a:r>
              <a:rPr lang="ko-KR" altLang="en-US" dirty="0"/>
              <a:t>모델 선택하기</a:t>
            </a:r>
            <a:endParaRPr lang="en-US" altLang="ko-KR" dirty="0"/>
          </a:p>
          <a:p>
            <a:pPr lvl="1"/>
            <a:r>
              <a:rPr lang="ko-KR" altLang="en-US" dirty="0"/>
              <a:t>버전은 아래와 달라도 됩니다</a:t>
            </a:r>
            <a:r>
              <a:rPr lang="en-US" altLang="ko-KR" dirty="0"/>
              <a:t>. Sonnet </a:t>
            </a:r>
            <a:r>
              <a:rPr lang="ko-KR" altLang="en-US" dirty="0"/>
              <a:t>이면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A8006AF-212E-DCD6-3F70-A1C626188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624" y="3183915"/>
            <a:ext cx="4095422" cy="2325868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4CCB34C4-081C-9919-7123-83802B3B50DC}"/>
              </a:ext>
            </a:extLst>
          </p:cNvPr>
          <p:cNvSpPr/>
          <p:nvPr/>
        </p:nvSpPr>
        <p:spPr>
          <a:xfrm>
            <a:off x="3877316" y="4208500"/>
            <a:ext cx="435979" cy="43597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F1E26C8C-E44B-2AA7-863B-F896767470CA}"/>
              </a:ext>
            </a:extLst>
          </p:cNvPr>
          <p:cNvSpPr/>
          <p:nvPr/>
        </p:nvSpPr>
        <p:spPr>
          <a:xfrm>
            <a:off x="7304012" y="4208500"/>
            <a:ext cx="435979" cy="43597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DA835D-7976-984A-38DE-26632FB86279}"/>
              </a:ext>
            </a:extLst>
          </p:cNvPr>
          <p:cNvSpPr/>
          <p:nvPr/>
        </p:nvSpPr>
        <p:spPr>
          <a:xfrm>
            <a:off x="321093" y="5528799"/>
            <a:ext cx="737241" cy="2200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9357F0-2CC6-F6A8-D680-2B6523CE2138}"/>
              </a:ext>
            </a:extLst>
          </p:cNvPr>
          <p:cNvSpPr/>
          <p:nvPr/>
        </p:nvSpPr>
        <p:spPr>
          <a:xfrm>
            <a:off x="4548140" y="4071781"/>
            <a:ext cx="1116062" cy="195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E9FECD-B35B-F2BF-F33E-ADF9DE90258F}"/>
              </a:ext>
            </a:extLst>
          </p:cNvPr>
          <p:cNvSpPr/>
          <p:nvPr/>
        </p:nvSpPr>
        <p:spPr>
          <a:xfrm>
            <a:off x="7967062" y="4532061"/>
            <a:ext cx="3672488" cy="2562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EC8A7E-5770-F19D-36C3-8151794C4808}"/>
              </a:ext>
            </a:extLst>
          </p:cNvPr>
          <p:cNvSpPr txBox="1"/>
          <p:nvPr/>
        </p:nvSpPr>
        <p:spPr>
          <a:xfrm>
            <a:off x="4516901" y="5593015"/>
            <a:ext cx="7173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Sonnet (1M context)..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이런 옵션도 있을 수 있지만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"Sonnet"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으로만 </a:t>
            </a:r>
            <a:r>
              <a:rPr lang="ko-KR" altLang="en-US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적혀있는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것을 선택해주세요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3187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9098F-703B-5108-EBF7-15EFEB525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Reasoning Level </a:t>
            </a:r>
            <a:r>
              <a:rPr lang="ko-KR" altLang="en-US" dirty="0"/>
              <a:t>설정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D8A4E8-6D1A-35C8-1749-6FEF8C97F1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95923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Effort </a:t>
            </a:r>
            <a:r>
              <a:rPr lang="ko-KR" altLang="en-US" dirty="0"/>
              <a:t>수준을 </a:t>
            </a:r>
            <a:r>
              <a:rPr lang="en-US" altLang="ko-KR" dirty="0"/>
              <a:t>Medium</a:t>
            </a:r>
            <a:r>
              <a:rPr lang="ko-KR" altLang="en-US" dirty="0"/>
              <a:t>으로 설정해주세요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FF0000"/>
                </a:solidFill>
              </a:rPr>
              <a:t>빠른 실습을 위해 꼭 </a:t>
            </a:r>
            <a:r>
              <a:rPr lang="en-US" altLang="ko-KR" b="1" dirty="0">
                <a:solidFill>
                  <a:srgbClr val="FF0000"/>
                </a:solidFill>
              </a:rPr>
              <a:t>Medium</a:t>
            </a:r>
            <a:r>
              <a:rPr lang="ko-KR" altLang="en-US" b="1" dirty="0">
                <a:solidFill>
                  <a:srgbClr val="FF0000"/>
                </a:solidFill>
              </a:rPr>
              <a:t>으로 설정해주세요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917035-142D-528D-1409-347D01974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514" y="3799370"/>
            <a:ext cx="6041028" cy="14547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AF0995-EE04-83D3-2B39-D36A31234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52" y="3637752"/>
            <a:ext cx="3962604" cy="1619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03BBA3-DEF5-DF73-9697-BA7F97AEA188}"/>
              </a:ext>
            </a:extLst>
          </p:cNvPr>
          <p:cNvSpPr txBox="1"/>
          <p:nvPr/>
        </p:nvSpPr>
        <p:spPr>
          <a:xfrm>
            <a:off x="2083980" y="5311889"/>
            <a:ext cx="4508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/effort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74A46-CB92-A6D5-E1E0-DDEFE7B655C7}"/>
              </a:ext>
            </a:extLst>
          </p:cNvPr>
          <p:cNvSpPr txBox="1"/>
          <p:nvPr/>
        </p:nvSpPr>
        <p:spPr>
          <a:xfrm>
            <a:off x="7648355" y="5311889"/>
            <a:ext cx="3437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medium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808092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C14A5-5E50-D82A-1E59-887B5DF8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Permission Mode - Auto</a:t>
            </a:r>
            <a:r>
              <a:rPr lang="ko-KR" altLang="en-US" dirty="0"/>
              <a:t>로 설정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7FF0D4-5A9B-DDD0-9BF3-DF3804FBF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08850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권한 모드를 변경하는 이유</a:t>
            </a:r>
            <a:endParaRPr lang="en-US" altLang="ko-KR" dirty="0"/>
          </a:p>
          <a:p>
            <a:pPr lvl="1"/>
            <a:r>
              <a:rPr lang="ko-KR" altLang="en-US" sz="1800" dirty="0"/>
              <a:t>동작할 때 매번 </a:t>
            </a:r>
            <a:r>
              <a:rPr lang="en-US" altLang="ko-KR" sz="1800" dirty="0"/>
              <a:t>"</a:t>
            </a:r>
            <a:r>
              <a:rPr lang="ko-KR" altLang="en-US" sz="1800" dirty="0"/>
              <a:t>제가 컴퓨터 파일 수정해도 괜찮을까요</a:t>
            </a:r>
            <a:r>
              <a:rPr lang="en-US" altLang="ko-KR" sz="1800" dirty="0"/>
              <a:t>?" </a:t>
            </a:r>
            <a:r>
              <a:rPr lang="ko-KR" altLang="en-US" sz="1800" dirty="0"/>
              <a:t>라는 </a:t>
            </a:r>
            <a:r>
              <a:rPr lang="en-US" altLang="ko-KR" sz="1800" dirty="0"/>
              <a:t>AI </a:t>
            </a:r>
            <a:r>
              <a:rPr lang="ko-KR" altLang="en-US" sz="1800" dirty="0"/>
              <a:t>질문에 대답하기 번거로움</a:t>
            </a:r>
            <a:endParaRPr lang="en-US" altLang="ko-KR" sz="1800" dirty="0"/>
          </a:p>
          <a:p>
            <a:pPr lvl="1"/>
            <a:r>
              <a:rPr lang="ko-KR" altLang="en-US" sz="1800" dirty="0"/>
              <a:t>매번 </a:t>
            </a:r>
            <a:r>
              <a:rPr lang="en-US" altLang="ko-KR" sz="1800" dirty="0"/>
              <a:t>AI</a:t>
            </a:r>
            <a:r>
              <a:rPr lang="ko-KR" altLang="en-US" sz="1800" dirty="0"/>
              <a:t>가 사람에게 수정 여부를 </a:t>
            </a:r>
            <a:r>
              <a:rPr lang="ko-KR" altLang="en-US" sz="1800" dirty="0" err="1"/>
              <a:t>묻지말고</a:t>
            </a:r>
            <a:r>
              <a:rPr lang="en-US" altLang="ko-KR" sz="1800" dirty="0"/>
              <a:t>, </a:t>
            </a:r>
            <a:r>
              <a:rPr lang="ko-KR" altLang="en-US" sz="1800" dirty="0"/>
              <a:t>수정할 수 있도록 권한 모드를 변경한다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E983AC-649D-3BA2-C175-343C54F14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30" y="2794133"/>
            <a:ext cx="2572574" cy="1190814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2362596-CF4F-981F-CC7A-1B523DAC2D8E}"/>
              </a:ext>
            </a:extLst>
          </p:cNvPr>
          <p:cNvSpPr/>
          <p:nvPr/>
        </p:nvSpPr>
        <p:spPr>
          <a:xfrm>
            <a:off x="3182699" y="3114811"/>
            <a:ext cx="481990" cy="4819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FB5379-F402-BF7B-AD9C-6B95348B9CA6}"/>
              </a:ext>
            </a:extLst>
          </p:cNvPr>
          <p:cNvSpPr txBox="1"/>
          <p:nvPr/>
        </p:nvSpPr>
        <p:spPr>
          <a:xfrm>
            <a:off x="851407" y="4044379"/>
            <a:ext cx="1615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/config </a:t>
            </a:r>
            <a:r>
              <a:rPr lang="ko-KR" altLang="en-US" sz="1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입력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928B0A-340A-B381-76B2-329604998FAA}"/>
              </a:ext>
            </a:extLst>
          </p:cNvPr>
          <p:cNvSpPr txBox="1"/>
          <p:nvPr/>
        </p:nvSpPr>
        <p:spPr>
          <a:xfrm>
            <a:off x="3656440" y="5997978"/>
            <a:ext cx="3659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방향키를 아래로 누른 후</a:t>
            </a:r>
            <a:endParaRPr lang="en-US" altLang="ko-KR" sz="14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Tab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키를 </a:t>
            </a:r>
            <a:r>
              <a:rPr lang="ko-KR" altLang="en-US" sz="14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여러번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눌러 </a:t>
            </a:r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Auto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로 선택</a:t>
            </a:r>
            <a:endParaRPr lang="en-US" altLang="ko-KR" sz="14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6BDD19-10E8-F7B2-0AD4-810F290048C4}"/>
              </a:ext>
            </a:extLst>
          </p:cNvPr>
          <p:cNvSpPr txBox="1"/>
          <p:nvPr/>
        </p:nvSpPr>
        <p:spPr>
          <a:xfrm>
            <a:off x="8133058" y="5997978"/>
            <a:ext cx="3659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ESC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누르면 자동 저장된다</a:t>
            </a:r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algn="ctr"/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ESC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눌러 원래 상태로 돌아온다</a:t>
            </a:r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endParaRPr lang="ko-KR" altLang="en-US" sz="14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38891B1-B8EB-50CF-FECC-FFDEA05F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546" y="2737395"/>
            <a:ext cx="3168475" cy="9867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5005E09-D75F-A947-6C45-38CBD4E4E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084" y="4750283"/>
            <a:ext cx="3168475" cy="1138150"/>
          </a:xfrm>
          <a:prstGeom prst="rect">
            <a:avLst/>
          </a:prstGeom>
        </p:spPr>
      </p:pic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CF0ED16D-02A7-93BD-BC3B-4D3DF6FC33C1}"/>
              </a:ext>
            </a:extLst>
          </p:cNvPr>
          <p:cNvSpPr/>
          <p:nvPr/>
        </p:nvSpPr>
        <p:spPr>
          <a:xfrm rot="5400000">
            <a:off x="5191640" y="4138580"/>
            <a:ext cx="481990" cy="4819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1BDA91-4FAE-51B6-DDA7-4CC66AB2DAC5}"/>
              </a:ext>
            </a:extLst>
          </p:cNvPr>
          <p:cNvSpPr txBox="1"/>
          <p:nvPr/>
        </p:nvSpPr>
        <p:spPr>
          <a:xfrm>
            <a:off x="3690902" y="3756513"/>
            <a:ext cx="3659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"per" 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입력하여 </a:t>
            </a:r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permission mode 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검색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1669855-0609-D68C-AE01-02B6420411A9}"/>
              </a:ext>
            </a:extLst>
          </p:cNvPr>
          <p:cNvSpPr/>
          <p:nvPr/>
        </p:nvSpPr>
        <p:spPr>
          <a:xfrm>
            <a:off x="7480239" y="5191198"/>
            <a:ext cx="481990" cy="4819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A0CF3EE-2420-5660-F665-6321B742F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909" y="4932081"/>
            <a:ext cx="3182061" cy="97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91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35A00-B30A-926A-FE08-3DAA621F8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동작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D1AFD0-A387-180E-B225-7D7ABB113F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95923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간단히 대화를 해보고</a:t>
            </a:r>
            <a:r>
              <a:rPr lang="en-US" altLang="ko-KR" dirty="0"/>
              <a:t>, </a:t>
            </a:r>
            <a:r>
              <a:rPr lang="ko-KR" altLang="en-US" dirty="0"/>
              <a:t>잘 동작되는지 확인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AI</a:t>
            </a:r>
            <a:r>
              <a:rPr lang="ko-KR" altLang="en-US" b="1" dirty="0">
                <a:solidFill>
                  <a:srgbClr val="FF0000"/>
                </a:solidFill>
              </a:rPr>
              <a:t>가 어떠한 대답을 하면 OK</a:t>
            </a:r>
            <a:r>
              <a:rPr lang="en-US" altLang="ko-KR" b="1" dirty="0">
                <a:solidFill>
                  <a:srgbClr val="FF0000"/>
                </a:solidFill>
              </a:rPr>
              <a:t>! </a:t>
            </a:r>
            <a:r>
              <a:rPr lang="ko-KR" altLang="en-US" b="1" dirty="0">
                <a:solidFill>
                  <a:srgbClr val="FF0000"/>
                </a:solidFill>
              </a:rPr>
              <a:t>성공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DE985B1-2248-C057-59BD-DA050FAB58F8}"/>
              </a:ext>
            </a:extLst>
          </p:cNvPr>
          <p:cNvSpPr/>
          <p:nvPr/>
        </p:nvSpPr>
        <p:spPr>
          <a:xfrm>
            <a:off x="5730477" y="3582275"/>
            <a:ext cx="657469" cy="65746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257C1D-85A7-00DC-7848-6705AC96B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663" y="2299084"/>
            <a:ext cx="3208323" cy="351681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BB35E6-4FC5-CEE1-4B4C-C32CE0536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531" y="1605365"/>
            <a:ext cx="3275995" cy="474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1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F8087-2A0E-2D86-AE21-5A308E966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9500EB-F80B-7E15-86F0-DA4F5ADC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챕터의 목적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4393CC3-4B78-A0C6-4A3C-B19452A981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02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EE6C53-1105-0945-F2AC-7BDABB9E0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Claude Code </a:t>
            </a:r>
            <a:r>
              <a:rPr lang="ko-KR" altLang="en-US" dirty="0"/>
              <a:t>기본</a:t>
            </a:r>
          </a:p>
        </p:txBody>
      </p:sp>
    </p:spTree>
    <p:extLst>
      <p:ext uri="{BB962C8B-B14F-4D97-AF65-F5344CB8AC3E}">
        <p14:creationId xmlns:p14="http://schemas.microsoft.com/office/powerpoint/2010/main" val="1316617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3E03B-C079-3FC1-0EEE-124F212A1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 Chat vs Claude Code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CC8D3B-EAE1-544C-BEAA-A71FF9C29D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203902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H Chat Desktop</a:t>
            </a:r>
          </a:p>
          <a:p>
            <a:pPr lvl="1"/>
            <a:r>
              <a:rPr lang="en-US" altLang="ko-KR" dirty="0"/>
              <a:t>Claude Code</a:t>
            </a:r>
            <a:r>
              <a:rPr lang="ko-KR" altLang="en-US" dirty="0"/>
              <a:t>를 하기에 진입장벽을 낮추고자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최소화된 기능을 삽입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오늘 학습할 </a:t>
            </a:r>
            <a:r>
              <a:rPr lang="en-US" altLang="ko-KR" dirty="0"/>
              <a:t>Claude Code </a:t>
            </a:r>
            <a:r>
              <a:rPr lang="ko-KR" altLang="en-US" dirty="0"/>
              <a:t>의 기능들 중 일부만 사용 가능</a:t>
            </a:r>
            <a:br>
              <a:rPr lang="en-US" altLang="ko-KR" dirty="0"/>
            </a:br>
            <a:r>
              <a:rPr lang="en-US" altLang="ko-KR" dirty="0"/>
              <a:t>(H Chat Desktop </a:t>
            </a:r>
            <a:r>
              <a:rPr lang="ko-KR" altLang="en-US" dirty="0"/>
              <a:t>시간이 지나면서 점차 개선될 예정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C3E2D3-C4BC-21CB-F9D5-C6230C949214}"/>
              </a:ext>
            </a:extLst>
          </p:cNvPr>
          <p:cNvSpPr/>
          <p:nvPr/>
        </p:nvSpPr>
        <p:spPr>
          <a:xfrm>
            <a:off x="2353734" y="4961467"/>
            <a:ext cx="1642533" cy="14054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바이브코딩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(H Chat)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13FAAB-C433-8166-53F9-6FB741AE3A46}"/>
              </a:ext>
            </a:extLst>
          </p:cNvPr>
          <p:cNvSpPr/>
          <p:nvPr/>
        </p:nvSpPr>
        <p:spPr>
          <a:xfrm>
            <a:off x="7780867" y="4961467"/>
            <a:ext cx="1642533" cy="14054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업무용툴제작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(Claude Code)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52C177-89D5-6279-F9D1-32C00F27C3F5}"/>
              </a:ext>
            </a:extLst>
          </p:cNvPr>
          <p:cNvSpPr/>
          <p:nvPr/>
        </p:nvSpPr>
        <p:spPr>
          <a:xfrm>
            <a:off x="5156201" y="4961467"/>
            <a:ext cx="1642533" cy="140546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H Chat Desktop</a:t>
            </a:r>
          </a:p>
        </p:txBody>
      </p:sp>
    </p:spTree>
    <p:extLst>
      <p:ext uri="{BB962C8B-B14F-4D97-AF65-F5344CB8AC3E}">
        <p14:creationId xmlns:p14="http://schemas.microsoft.com/office/powerpoint/2010/main" val="2833126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7CB4A-E42D-3DD7-8DA8-B6C20932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목적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A6709A-93BB-8AF0-02DE-96AE3F7846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3688189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Claude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r>
              <a:rPr lang="ko-KR" altLang="en-US" dirty="0"/>
              <a:t>의 기본 사용법을 익힌다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 챕터에서는 하나의 예제를 통해 </a:t>
            </a:r>
            <a:r>
              <a:rPr lang="en-US" altLang="ko-KR" dirty="0"/>
              <a:t>Claude Code </a:t>
            </a:r>
            <a:r>
              <a:rPr lang="ko-KR" altLang="en-US" dirty="0"/>
              <a:t>기본 기능을 리뷰한다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커리큘럼</a:t>
            </a:r>
            <a:endParaRPr lang="en-US" altLang="ko-KR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CLAUDE.md </a:t>
            </a:r>
            <a:r>
              <a:rPr lang="ko-KR" altLang="en-US" dirty="0"/>
              <a:t>사용법을 익힌다</a:t>
            </a:r>
            <a:r>
              <a:rPr lang="en-US" altLang="ko-KR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회의록을 제작하기 위한 상황을 설정한다</a:t>
            </a:r>
            <a:r>
              <a:rPr lang="en-US" altLang="ko-KR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/>
              <a:t>대화 내용을 기반으로 회의록을 작성해본다</a:t>
            </a:r>
            <a:r>
              <a:rPr lang="en-US" altLang="ko-KR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Skill</a:t>
            </a:r>
            <a:r>
              <a:rPr lang="ko-KR" altLang="en-US" dirty="0"/>
              <a:t>와 </a:t>
            </a:r>
            <a:r>
              <a:rPr lang="en-US" altLang="ko-KR" dirty="0"/>
              <a:t>MCP </a:t>
            </a:r>
            <a:r>
              <a:rPr lang="ko-KR" altLang="en-US" dirty="0"/>
              <a:t>개념을 익히고</a:t>
            </a:r>
            <a:r>
              <a:rPr lang="en-US" altLang="ko-KR" dirty="0"/>
              <a:t>, </a:t>
            </a:r>
            <a:r>
              <a:rPr lang="ko-KR" altLang="en-US" dirty="0"/>
              <a:t>가볍게 다루어 본다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1747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C241F-BF2F-DF64-2CA2-AFB447756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F2863-C116-B7E3-84A5-FEF1258A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스토리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BB126-B8CC-891A-41DB-9CBB402417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334707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배경 설정</a:t>
            </a:r>
            <a:endParaRPr lang="en-US" altLang="ko-KR" dirty="0"/>
          </a:p>
          <a:p>
            <a:pPr marL="685800" lvl="1" indent="-457200">
              <a:buFont typeface="+mj-lt"/>
              <a:buAutoNum type="arabicPeriod"/>
            </a:pPr>
            <a:r>
              <a:rPr lang="ko-KR" altLang="en-US" dirty="0"/>
              <a:t>회사의 상황과 주제를 가상으로 정한다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+mj-lt"/>
              <a:buAutoNum type="arabicPeriod"/>
            </a:pPr>
            <a:r>
              <a:rPr lang="ko-KR" altLang="en-US" dirty="0"/>
              <a:t>임직원들의 성격을 가상으로 정한다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+mj-lt"/>
              <a:buAutoNum type="arabicPeriod"/>
            </a:pPr>
            <a:r>
              <a:rPr lang="ko-KR" altLang="en-US" dirty="0"/>
              <a:t>회의 대화의 내용을 생성해둔다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+mj-lt"/>
              <a:buAutoNum type="arabicPeriod"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목표 </a:t>
            </a:r>
            <a:r>
              <a:rPr lang="en-US" altLang="ko-KR" dirty="0"/>
              <a:t>: </a:t>
            </a:r>
            <a:r>
              <a:rPr lang="ko-KR" altLang="en-US" dirty="0"/>
              <a:t>회의록 요약 및 </a:t>
            </a:r>
            <a:r>
              <a:rPr lang="en-US" altLang="ko-KR" dirty="0"/>
              <a:t>Action Item </a:t>
            </a:r>
            <a:r>
              <a:rPr lang="ko-KR" altLang="en-US" dirty="0"/>
              <a:t>도출</a:t>
            </a:r>
            <a:endParaRPr lang="en-US" altLang="ko-KR" dirty="0"/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dirty="0"/>
              <a:t>임직원 성격을 기반으로 대화 내용에 대해 의도를 파악한다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dirty="0"/>
              <a:t>회의록을 작성하고 </a:t>
            </a:r>
            <a:r>
              <a:rPr lang="en-US" altLang="ko-KR" dirty="0"/>
              <a:t>Action Item</a:t>
            </a:r>
            <a:r>
              <a:rPr lang="ko-KR" altLang="en-US" dirty="0"/>
              <a:t>을 도출한다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dirty="0"/>
              <a:t>만든 자료를 </a:t>
            </a:r>
            <a:r>
              <a:rPr lang="en-US" altLang="ko-KR" dirty="0"/>
              <a:t>pdf</a:t>
            </a:r>
            <a:r>
              <a:rPr lang="ko-KR" altLang="en-US" dirty="0"/>
              <a:t>로 저장한다</a:t>
            </a:r>
            <a:r>
              <a:rPr lang="en-US" altLang="ko-KR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5AF1BB-24D5-3BF7-8A0C-4D043D73C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692" y="4389170"/>
            <a:ext cx="2904742" cy="22626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197B46E-88B2-8EA9-A5D0-4134048A2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568" y="4476103"/>
            <a:ext cx="1994301" cy="2160493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F7EEAF8-01B1-0ABA-0B37-3B229F6251DA}"/>
              </a:ext>
            </a:extLst>
          </p:cNvPr>
          <p:cNvSpPr/>
          <p:nvPr/>
        </p:nvSpPr>
        <p:spPr>
          <a:xfrm>
            <a:off x="5594486" y="5217459"/>
            <a:ext cx="887506" cy="735106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732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158DF-E191-7A4B-334B-92FFD5FA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환경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216473-5C62-3968-6A8C-EB32FC3D33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2323713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1) CMD(</a:t>
            </a:r>
            <a:r>
              <a:rPr lang="ko-KR" altLang="en-US" dirty="0" err="1"/>
              <a:t>명령프롬프트</a:t>
            </a:r>
            <a:r>
              <a:rPr lang="en-US" altLang="ko-KR" dirty="0"/>
              <a:t>) + Claude Code</a:t>
            </a:r>
            <a:r>
              <a:rPr lang="ko-KR" altLang="en-US" dirty="0"/>
              <a:t>로 </a:t>
            </a:r>
            <a:r>
              <a:rPr lang="en-US" altLang="ko-KR" dirty="0"/>
              <a:t>CLI </a:t>
            </a:r>
            <a:r>
              <a:rPr lang="ko-KR" altLang="en-US" dirty="0"/>
              <a:t>기반으로 사용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2) </a:t>
            </a:r>
            <a:r>
              <a:rPr lang="en-US" altLang="ko-KR" dirty="0" err="1"/>
              <a:t>vscode</a:t>
            </a:r>
            <a:r>
              <a:rPr lang="en-US" altLang="ko-KR" dirty="0"/>
              <a:t> (Visual Studio Code)</a:t>
            </a:r>
            <a:r>
              <a:rPr lang="ko-KR" altLang="en-US" dirty="0"/>
              <a:t>를 </a:t>
            </a:r>
            <a:r>
              <a:rPr lang="en-US" altLang="ko-KR" dirty="0"/>
              <a:t>“</a:t>
            </a:r>
            <a:r>
              <a:rPr lang="ko-KR" altLang="en-US" b="1" dirty="0" err="1">
                <a:solidFill>
                  <a:srgbClr val="FF0000"/>
                </a:solidFill>
              </a:rPr>
              <a:t>문서에디터</a:t>
            </a:r>
            <a:r>
              <a:rPr lang="en-US" altLang="ko-KR" dirty="0"/>
              <a:t>” </a:t>
            </a:r>
            <a:r>
              <a:rPr lang="ko-KR" altLang="en-US" dirty="0"/>
              <a:t>용도로만 사용</a:t>
            </a:r>
            <a:endParaRPr lang="en-US" altLang="ko-KR" dirty="0"/>
          </a:p>
          <a:p>
            <a:pPr lvl="1"/>
            <a:r>
              <a:rPr lang="ko-KR" altLang="en-US" dirty="0"/>
              <a:t>프로그래밍 용도가 아닌</a:t>
            </a:r>
            <a:r>
              <a:rPr lang="en-US" altLang="ko-KR" dirty="0"/>
              <a:t>, </a:t>
            </a:r>
            <a:r>
              <a:rPr lang="ko-KR" altLang="en-US" dirty="0"/>
              <a:t>문서 </a:t>
            </a:r>
            <a:r>
              <a:rPr lang="en-US" altLang="ko-KR" dirty="0"/>
              <a:t>Editor </a:t>
            </a:r>
            <a:r>
              <a:rPr lang="ko-KR" altLang="en-US" dirty="0"/>
              <a:t>용도로만 사용할 예정</a:t>
            </a:r>
            <a:endParaRPr lang="en-US" altLang="ko-KR" dirty="0"/>
          </a:p>
          <a:p>
            <a:pPr lvl="1"/>
            <a:r>
              <a:rPr lang="ko-KR" altLang="en-US" dirty="0"/>
              <a:t>설치 </a:t>
            </a:r>
            <a:r>
              <a:rPr lang="en-US" altLang="ko-KR" dirty="0"/>
              <a:t>: </a:t>
            </a:r>
            <a:r>
              <a:rPr lang="en-US" altLang="ko-KR" dirty="0">
                <a:hlinkClick r:id="rId2"/>
              </a:rPr>
              <a:t>https://code.visualstudio.com/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6D1403-1291-BC9F-40B9-AF77EBBDF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366" y="3187147"/>
            <a:ext cx="4513566" cy="30293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08C4510-EE59-F0C6-DBFB-D11EC8719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3346" y="3061112"/>
            <a:ext cx="3267454" cy="336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72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EB853-3A8C-1BC2-E974-C7183CCC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</a:t>
            </a:r>
            <a:r>
              <a:rPr lang="ko-KR" altLang="en-US" dirty="0"/>
              <a:t> 실행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554CD2-8406-2DE8-F4F3-5D5C54C3DE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프로젝트 폴더를 하나 생성 후</a:t>
            </a:r>
            <a:r>
              <a:rPr lang="en-US" altLang="ko-KR" dirty="0"/>
              <a:t>, Claude</a:t>
            </a:r>
            <a:r>
              <a:rPr lang="ko-KR" altLang="en-US" dirty="0"/>
              <a:t>를 실행한다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c:\work\basic </a:t>
            </a:r>
            <a:r>
              <a:rPr lang="ko-KR" altLang="en-US" dirty="0"/>
              <a:t>폴더 생성 후</a:t>
            </a:r>
            <a:r>
              <a:rPr lang="en-US" altLang="ko-KR" dirty="0"/>
              <a:t>, </a:t>
            </a:r>
            <a:r>
              <a:rPr lang="en-US" altLang="ko-KR" dirty="0" err="1"/>
              <a:t>claude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3E0C0C-F5F2-8CDC-F6A0-FBBCAC6CF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668" y="2436594"/>
            <a:ext cx="3621408" cy="37263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3AEA7A6-F8E4-1AC0-C30A-57997F361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724" y="2488806"/>
            <a:ext cx="4232174" cy="36219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92B3269-BD4C-8128-AFA0-E2A149808AF2}"/>
              </a:ext>
            </a:extLst>
          </p:cNvPr>
          <p:cNvSpPr/>
          <p:nvPr/>
        </p:nvSpPr>
        <p:spPr>
          <a:xfrm>
            <a:off x="7556205" y="3154326"/>
            <a:ext cx="588335" cy="2746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8804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0091743-0B42-613F-08DF-54A90459F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543" y="3342218"/>
            <a:ext cx="2763646" cy="216756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A81BE52-53DB-85F4-CF04-108F568EA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59" y="2767580"/>
            <a:ext cx="3441334" cy="35289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0487F2D-093C-2ED6-D936-A3D07965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선택하기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26A18C-FB37-F602-553F-5F3622DAD1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/model </a:t>
            </a:r>
            <a:r>
              <a:rPr lang="ko-KR" altLang="en-US" dirty="0"/>
              <a:t>명령어 입력 </a:t>
            </a:r>
            <a:r>
              <a:rPr lang="en-US" altLang="ko-KR" dirty="0"/>
              <a:t>&gt; Sonnet </a:t>
            </a:r>
            <a:r>
              <a:rPr lang="ko-KR" altLang="en-US" dirty="0"/>
              <a:t>모델 선택하기</a:t>
            </a:r>
            <a:endParaRPr lang="en-US" altLang="ko-KR" dirty="0"/>
          </a:p>
          <a:p>
            <a:pPr lvl="1"/>
            <a:r>
              <a:rPr lang="ko-KR" altLang="en-US" dirty="0"/>
              <a:t>버전은 아래와 달라도 됩니다</a:t>
            </a:r>
            <a:r>
              <a:rPr lang="en-US" altLang="ko-KR" dirty="0"/>
              <a:t>. Sonnet </a:t>
            </a:r>
            <a:r>
              <a:rPr lang="ko-KR" altLang="en-US" dirty="0"/>
              <a:t>이면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A8006AF-212E-DCD6-3F70-A1C626188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624" y="3183915"/>
            <a:ext cx="4095422" cy="2325868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4CCB34C4-081C-9919-7123-83802B3B50DC}"/>
              </a:ext>
            </a:extLst>
          </p:cNvPr>
          <p:cNvSpPr/>
          <p:nvPr/>
        </p:nvSpPr>
        <p:spPr>
          <a:xfrm>
            <a:off x="3877316" y="4208500"/>
            <a:ext cx="435979" cy="43597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F1E26C8C-E44B-2AA7-863B-F896767470CA}"/>
              </a:ext>
            </a:extLst>
          </p:cNvPr>
          <p:cNvSpPr/>
          <p:nvPr/>
        </p:nvSpPr>
        <p:spPr>
          <a:xfrm>
            <a:off x="7304012" y="4208500"/>
            <a:ext cx="435979" cy="43597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BDA835D-7976-984A-38DE-26632FB86279}"/>
              </a:ext>
            </a:extLst>
          </p:cNvPr>
          <p:cNvSpPr/>
          <p:nvPr/>
        </p:nvSpPr>
        <p:spPr>
          <a:xfrm>
            <a:off x="321093" y="5528799"/>
            <a:ext cx="737241" cy="2200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9357F0-2CC6-F6A8-D680-2B6523CE2138}"/>
              </a:ext>
            </a:extLst>
          </p:cNvPr>
          <p:cNvSpPr/>
          <p:nvPr/>
        </p:nvSpPr>
        <p:spPr>
          <a:xfrm>
            <a:off x="4548140" y="4071781"/>
            <a:ext cx="1116062" cy="1954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E9FECD-B35B-F2BF-F33E-ADF9DE90258F}"/>
              </a:ext>
            </a:extLst>
          </p:cNvPr>
          <p:cNvSpPr/>
          <p:nvPr/>
        </p:nvSpPr>
        <p:spPr>
          <a:xfrm>
            <a:off x="7967062" y="4532061"/>
            <a:ext cx="3672488" cy="2562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EC8A7E-5770-F19D-36C3-8151794C4808}"/>
              </a:ext>
            </a:extLst>
          </p:cNvPr>
          <p:cNvSpPr txBox="1"/>
          <p:nvPr/>
        </p:nvSpPr>
        <p:spPr>
          <a:xfrm>
            <a:off x="4516901" y="5593015"/>
            <a:ext cx="7173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Sonnet (1M context)..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이런 옵션도 있을 수 있지만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"Sonnet"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으로만 </a:t>
            </a:r>
            <a:r>
              <a:rPr lang="ko-KR" altLang="en-US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적혀있는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것을 선택해주세요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006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9098F-703B-5108-EBF7-15EFEB525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Reasoning Level </a:t>
            </a:r>
            <a:r>
              <a:rPr lang="ko-KR" altLang="en-US" dirty="0"/>
              <a:t>설정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D8A4E8-6D1A-35C8-1749-6FEF8C97F1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95923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Effort </a:t>
            </a:r>
            <a:r>
              <a:rPr lang="ko-KR" altLang="en-US" dirty="0"/>
              <a:t>수준을 </a:t>
            </a:r>
            <a:r>
              <a:rPr lang="en-US" altLang="ko-KR" dirty="0"/>
              <a:t>Medium</a:t>
            </a:r>
            <a:r>
              <a:rPr lang="ko-KR" altLang="en-US" dirty="0"/>
              <a:t>으로 설정해주세요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FF0000"/>
                </a:solidFill>
              </a:rPr>
              <a:t>빠른 실습을 위해 꼭 </a:t>
            </a:r>
            <a:r>
              <a:rPr lang="en-US" altLang="ko-KR" b="1" dirty="0">
                <a:solidFill>
                  <a:srgbClr val="FF0000"/>
                </a:solidFill>
              </a:rPr>
              <a:t>Medium</a:t>
            </a:r>
            <a:r>
              <a:rPr lang="ko-KR" altLang="en-US" b="1" dirty="0">
                <a:solidFill>
                  <a:srgbClr val="FF0000"/>
                </a:solidFill>
              </a:rPr>
              <a:t>으로 설정해주세요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917035-142D-528D-1409-347D01974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514" y="3799370"/>
            <a:ext cx="6041028" cy="14547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AF0995-EE04-83D3-2B39-D36A31234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52" y="3637752"/>
            <a:ext cx="3962604" cy="16193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03BBA3-DEF5-DF73-9697-BA7F97AEA188}"/>
              </a:ext>
            </a:extLst>
          </p:cNvPr>
          <p:cNvSpPr txBox="1"/>
          <p:nvPr/>
        </p:nvSpPr>
        <p:spPr>
          <a:xfrm>
            <a:off x="2083980" y="5311889"/>
            <a:ext cx="4508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/effort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74A46-CB92-A6D5-E1E0-DDEFE7B655C7}"/>
              </a:ext>
            </a:extLst>
          </p:cNvPr>
          <p:cNvSpPr txBox="1"/>
          <p:nvPr/>
        </p:nvSpPr>
        <p:spPr>
          <a:xfrm>
            <a:off x="7648355" y="5311889"/>
            <a:ext cx="3437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medium 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선택</a:t>
            </a:r>
          </a:p>
        </p:txBody>
      </p:sp>
    </p:spTree>
    <p:extLst>
      <p:ext uri="{BB962C8B-B14F-4D97-AF65-F5344CB8AC3E}">
        <p14:creationId xmlns:p14="http://schemas.microsoft.com/office/powerpoint/2010/main" val="75932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C14A5-5E50-D82A-1E59-887B5DF8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Permission Mode - Auto</a:t>
            </a:r>
            <a:r>
              <a:rPr lang="ko-KR" altLang="en-US" dirty="0"/>
              <a:t>로 설정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7FF0D4-5A9B-DDD0-9BF3-DF3804FBF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08850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권한 모드를 변경하는 이유</a:t>
            </a:r>
            <a:endParaRPr lang="en-US" altLang="ko-KR" dirty="0"/>
          </a:p>
          <a:p>
            <a:pPr lvl="1"/>
            <a:r>
              <a:rPr lang="ko-KR" altLang="en-US" sz="1800" dirty="0"/>
              <a:t>동작할 때 매번 </a:t>
            </a:r>
            <a:r>
              <a:rPr lang="en-US" altLang="ko-KR" sz="1800" dirty="0"/>
              <a:t>"</a:t>
            </a:r>
            <a:r>
              <a:rPr lang="ko-KR" altLang="en-US" sz="1800" dirty="0"/>
              <a:t>제가 컴퓨터 파일 수정해도 괜찮을까요</a:t>
            </a:r>
            <a:r>
              <a:rPr lang="en-US" altLang="ko-KR" sz="1800" dirty="0"/>
              <a:t>?" </a:t>
            </a:r>
            <a:r>
              <a:rPr lang="ko-KR" altLang="en-US" sz="1800" dirty="0"/>
              <a:t>라는 </a:t>
            </a:r>
            <a:r>
              <a:rPr lang="en-US" altLang="ko-KR" sz="1800" dirty="0"/>
              <a:t>AI </a:t>
            </a:r>
            <a:r>
              <a:rPr lang="ko-KR" altLang="en-US" sz="1800" dirty="0"/>
              <a:t>질문에 대답하기 번거로움</a:t>
            </a:r>
            <a:endParaRPr lang="en-US" altLang="ko-KR" sz="1800" dirty="0"/>
          </a:p>
          <a:p>
            <a:pPr lvl="1"/>
            <a:r>
              <a:rPr lang="ko-KR" altLang="en-US" sz="1800" dirty="0"/>
              <a:t>매번 </a:t>
            </a:r>
            <a:r>
              <a:rPr lang="en-US" altLang="ko-KR" sz="1800" dirty="0"/>
              <a:t>AI</a:t>
            </a:r>
            <a:r>
              <a:rPr lang="ko-KR" altLang="en-US" sz="1800" dirty="0"/>
              <a:t>가 사람에게 수정 여부를 </a:t>
            </a:r>
            <a:r>
              <a:rPr lang="ko-KR" altLang="en-US" sz="1800" dirty="0" err="1"/>
              <a:t>묻지말고</a:t>
            </a:r>
            <a:r>
              <a:rPr lang="en-US" altLang="ko-KR" sz="1800" dirty="0"/>
              <a:t>, </a:t>
            </a:r>
            <a:r>
              <a:rPr lang="ko-KR" altLang="en-US" sz="1800" dirty="0"/>
              <a:t>수정할 수 있도록 권한 모드를 변경한다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E983AC-649D-3BA2-C175-343C54F14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30" y="2794133"/>
            <a:ext cx="2572574" cy="1190814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2362596-CF4F-981F-CC7A-1B523DAC2D8E}"/>
              </a:ext>
            </a:extLst>
          </p:cNvPr>
          <p:cNvSpPr/>
          <p:nvPr/>
        </p:nvSpPr>
        <p:spPr>
          <a:xfrm>
            <a:off x="3182699" y="3114811"/>
            <a:ext cx="481990" cy="4819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FB5379-F402-BF7B-AD9C-6B95348B9CA6}"/>
              </a:ext>
            </a:extLst>
          </p:cNvPr>
          <p:cNvSpPr txBox="1"/>
          <p:nvPr/>
        </p:nvSpPr>
        <p:spPr>
          <a:xfrm>
            <a:off x="862619" y="3984947"/>
            <a:ext cx="2395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/config </a:t>
            </a:r>
            <a:r>
              <a:rPr lang="ko-KR" altLang="en-US" sz="16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입력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928B0A-340A-B381-76B2-329604998FAA}"/>
              </a:ext>
            </a:extLst>
          </p:cNvPr>
          <p:cNvSpPr txBox="1"/>
          <p:nvPr/>
        </p:nvSpPr>
        <p:spPr>
          <a:xfrm>
            <a:off x="3843749" y="5939932"/>
            <a:ext cx="3659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방향키를 아래로 누른 후</a:t>
            </a:r>
            <a:endParaRPr lang="en-US" altLang="ko-KR" sz="14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Tab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키를 </a:t>
            </a:r>
            <a:r>
              <a:rPr lang="ko-KR" altLang="en-US" sz="1400" b="1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여러번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눌러 </a:t>
            </a:r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Auto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로 선택</a:t>
            </a:r>
            <a:endParaRPr lang="en-US" altLang="ko-KR" sz="14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6BDD19-10E8-F7B2-0AD4-810F290048C4}"/>
              </a:ext>
            </a:extLst>
          </p:cNvPr>
          <p:cNvSpPr txBox="1"/>
          <p:nvPr/>
        </p:nvSpPr>
        <p:spPr>
          <a:xfrm>
            <a:off x="8061786" y="6047654"/>
            <a:ext cx="3659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ESC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누르면 자동 저장된다</a:t>
            </a:r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pPr algn="ctr"/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ESC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눌러 원래 상태로 돌아온다</a:t>
            </a:r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endParaRPr lang="ko-KR" altLang="en-US" sz="14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38891B1-B8EB-50CF-FECC-FFDEA05F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546" y="2737395"/>
            <a:ext cx="3168475" cy="9867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5005E09-D75F-A947-6C45-38CBD4E4E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084" y="4750283"/>
            <a:ext cx="3168475" cy="1138150"/>
          </a:xfrm>
          <a:prstGeom prst="rect">
            <a:avLst/>
          </a:prstGeom>
        </p:spPr>
      </p:pic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CF0ED16D-02A7-93BD-BC3B-4D3DF6FC33C1}"/>
              </a:ext>
            </a:extLst>
          </p:cNvPr>
          <p:cNvSpPr/>
          <p:nvPr/>
        </p:nvSpPr>
        <p:spPr>
          <a:xfrm rot="5400000">
            <a:off x="5191640" y="4138580"/>
            <a:ext cx="481990" cy="4819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1BDA91-4FAE-51B6-DDA7-4CC66AB2DAC5}"/>
              </a:ext>
            </a:extLst>
          </p:cNvPr>
          <p:cNvSpPr txBox="1"/>
          <p:nvPr/>
        </p:nvSpPr>
        <p:spPr>
          <a:xfrm>
            <a:off x="3820477" y="3759047"/>
            <a:ext cx="36597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"per" 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입력하여 </a:t>
            </a:r>
            <a:r>
              <a:rPr lang="en-US" altLang="ko-KR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permission mode </a:t>
            </a:r>
            <a:r>
              <a:rPr lang="ko-KR" altLang="en-US" sz="1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검색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1669855-0609-D68C-AE01-02B6420411A9}"/>
              </a:ext>
            </a:extLst>
          </p:cNvPr>
          <p:cNvSpPr/>
          <p:nvPr/>
        </p:nvSpPr>
        <p:spPr>
          <a:xfrm>
            <a:off x="7480239" y="5191198"/>
            <a:ext cx="481990" cy="48199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A0CF3EE-2420-5660-F665-6321B742F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1909" y="4932081"/>
            <a:ext cx="3182061" cy="97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03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35A00-B30A-926A-FE08-3DAA621F8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동작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D1AFD0-A387-180E-B225-7D7ABB113F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95923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간단히 대화를 해보고</a:t>
            </a:r>
            <a:r>
              <a:rPr lang="en-US" altLang="ko-KR" dirty="0"/>
              <a:t>, </a:t>
            </a:r>
            <a:r>
              <a:rPr lang="ko-KR" altLang="en-US" dirty="0"/>
              <a:t>잘 동작되는지 확인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AI</a:t>
            </a:r>
            <a:r>
              <a:rPr lang="ko-KR" altLang="en-US" b="1" dirty="0">
                <a:solidFill>
                  <a:srgbClr val="FF0000"/>
                </a:solidFill>
              </a:rPr>
              <a:t>가 어떠한 대답을 하면 OK</a:t>
            </a:r>
            <a:r>
              <a:rPr lang="en-US" altLang="ko-KR" b="1" dirty="0">
                <a:solidFill>
                  <a:srgbClr val="FF0000"/>
                </a:solidFill>
              </a:rPr>
              <a:t>! </a:t>
            </a:r>
            <a:r>
              <a:rPr lang="ko-KR" altLang="en-US" b="1" dirty="0">
                <a:solidFill>
                  <a:srgbClr val="FF0000"/>
                </a:solidFill>
              </a:rPr>
              <a:t>성공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FDE985B1-2248-C057-59BD-DA050FAB58F8}"/>
              </a:ext>
            </a:extLst>
          </p:cNvPr>
          <p:cNvSpPr/>
          <p:nvPr/>
        </p:nvSpPr>
        <p:spPr>
          <a:xfrm>
            <a:off x="5730477" y="3582275"/>
            <a:ext cx="657469" cy="65746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257C1D-85A7-00DC-7848-6705AC96B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663" y="2299084"/>
            <a:ext cx="3208323" cy="351681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6BB35E6-4FC5-CEE1-4B4C-C32CE0536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531" y="1605365"/>
            <a:ext cx="3275995" cy="474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356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771F02E-41F6-BEF1-4E32-DB97DCF92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38071D1-680F-9AE3-1C04-9BD35F90ED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03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467A47-1C59-0865-181B-436FBFE05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Claude Code </a:t>
            </a:r>
            <a:r>
              <a:rPr lang="ko-KR" altLang="en-US" dirty="0"/>
              <a:t>기본</a:t>
            </a:r>
          </a:p>
        </p:txBody>
      </p:sp>
    </p:spTree>
    <p:extLst>
      <p:ext uri="{BB962C8B-B14F-4D97-AF65-F5344CB8AC3E}">
        <p14:creationId xmlns:p14="http://schemas.microsoft.com/office/powerpoint/2010/main" val="3153557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A8B3A9-079A-5294-A2B0-FBE019C8B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8DB9E6-3C01-1FC0-8BFC-AE0E1B4436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498667"/>
          </a:xfrm>
        </p:spPr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파일이란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Claude Code</a:t>
            </a:r>
            <a:r>
              <a:rPr lang="ko-KR" altLang="en-US" dirty="0"/>
              <a:t>에서 사용되는 규칙 </a:t>
            </a:r>
            <a:r>
              <a:rPr lang="en-US" altLang="ko-KR" dirty="0"/>
              <a:t>/ </a:t>
            </a:r>
            <a:r>
              <a:rPr lang="ko-KR" altLang="en-US" dirty="0"/>
              <a:t>지침 파일</a:t>
            </a:r>
            <a:endParaRPr lang="en-US" altLang="ko-KR" dirty="0"/>
          </a:p>
          <a:p>
            <a:pPr lvl="1"/>
            <a:r>
              <a:rPr lang="ko-KR" altLang="en-US" dirty="0"/>
              <a:t>이곳에 내용을 기입하면</a:t>
            </a:r>
            <a:r>
              <a:rPr lang="en-US" altLang="ko-KR" dirty="0"/>
              <a:t>, Claude</a:t>
            </a:r>
            <a:r>
              <a:rPr lang="ko-KR" altLang="en-US" dirty="0"/>
              <a:t>는 사용자의 규칙</a:t>
            </a:r>
            <a:r>
              <a:rPr lang="en-US" altLang="ko-KR" dirty="0"/>
              <a:t>(</a:t>
            </a:r>
            <a:r>
              <a:rPr lang="ko-KR" altLang="en-US" dirty="0"/>
              <a:t>지침</a:t>
            </a:r>
            <a:r>
              <a:rPr lang="en-US" altLang="ko-KR" dirty="0"/>
              <a:t>)</a:t>
            </a:r>
            <a:r>
              <a:rPr lang="ko-KR" altLang="en-US" dirty="0"/>
              <a:t>으로 간주하고 행동한다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사용처</a:t>
            </a:r>
            <a:endParaRPr lang="en-US" altLang="ko-KR" dirty="0"/>
          </a:p>
          <a:p>
            <a:pPr lvl="1"/>
            <a:r>
              <a:rPr lang="en-US" altLang="ko-KR" dirty="0"/>
              <a:t>Claude Code</a:t>
            </a:r>
            <a:r>
              <a:rPr lang="ko-KR" altLang="en-US" dirty="0"/>
              <a:t>가 항시 참고해야 할 내용을 </a:t>
            </a:r>
            <a:r>
              <a:rPr lang="en-US" altLang="ko-KR" dirty="0"/>
              <a:t>CLAUDE.md</a:t>
            </a:r>
            <a:r>
              <a:rPr lang="ko-KR" altLang="en-US" dirty="0"/>
              <a:t>에 적는다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	- </a:t>
            </a:r>
            <a:r>
              <a:rPr lang="ko-KR" altLang="en-US" dirty="0"/>
              <a:t>매번 프롬프트로 반복 설명할 필요가 없다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	- </a:t>
            </a:r>
            <a:r>
              <a:rPr lang="ko-KR" altLang="en-US" dirty="0"/>
              <a:t>이곳에 프로젝트에 대한 설명</a:t>
            </a:r>
            <a:r>
              <a:rPr lang="en-US" altLang="ko-KR" dirty="0"/>
              <a:t>, </a:t>
            </a:r>
            <a:r>
              <a:rPr lang="ko-KR" altLang="en-US" dirty="0"/>
              <a:t>개발 방식</a:t>
            </a:r>
            <a:r>
              <a:rPr lang="en-US" altLang="ko-KR" dirty="0"/>
              <a:t>, </a:t>
            </a:r>
            <a:r>
              <a:rPr lang="ko-KR" altLang="en-US" dirty="0"/>
              <a:t>팀의 </a:t>
            </a:r>
            <a:r>
              <a:rPr lang="ko-KR" altLang="en-US" dirty="0" err="1"/>
              <a:t>규칙등을</a:t>
            </a:r>
            <a:r>
              <a:rPr lang="ko-KR" altLang="en-US" dirty="0"/>
              <a:t> 정의한다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0248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2B212-15DA-D98E-BAD1-BE537BEB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생성해야 하는 위치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C9B6C-B613-88F4-6310-BFC6E5182D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143903"/>
          </a:xfrm>
        </p:spPr>
        <p:txBody>
          <a:bodyPr/>
          <a:lstStyle/>
          <a:p>
            <a:pPr marL="0" indent="0">
              <a:buNone/>
            </a:pPr>
            <a:r>
              <a:rPr lang="ko-KR" altLang="en-US"/>
              <a:t>현재 열려있는 프로젝트의 </a:t>
            </a:r>
            <a:r>
              <a:rPr lang="en-US" altLang="ko-KR"/>
              <a:t>Root </a:t>
            </a:r>
            <a:r>
              <a:rPr lang="ko-KR" altLang="en-US"/>
              <a:t>폴더에 둔다</a:t>
            </a:r>
            <a:r>
              <a:rPr lang="en-US" altLang="ko-KR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/>
              <a:t>루트 폴더에 넣어두면</a:t>
            </a:r>
            <a:r>
              <a:rPr lang="en-US" altLang="ko-KR"/>
              <a:t>, </a:t>
            </a:r>
            <a:r>
              <a:rPr lang="ko-KR" altLang="en-US"/>
              <a:t>프로젝트 전체에 규칙을 적용한다</a:t>
            </a:r>
            <a:r>
              <a:rPr lang="en-US" altLang="ko-KR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/>
              <a:t>비유 </a:t>
            </a:r>
            <a:r>
              <a:rPr lang="en-US" altLang="ko-KR"/>
              <a:t>: </a:t>
            </a:r>
            <a:r>
              <a:rPr lang="ko-KR" altLang="en-US"/>
              <a:t>프로젝트의 헌법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EA222-5C13-46E8-AF4B-F865808D5513}"/>
              </a:ext>
            </a:extLst>
          </p:cNvPr>
          <p:cNvSpPr txBox="1"/>
          <p:nvPr/>
        </p:nvSpPr>
        <p:spPr>
          <a:xfrm>
            <a:off x="4883426" y="3450215"/>
            <a:ext cx="270344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/my-project</a:t>
            </a:r>
            <a:b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├── </a:t>
            </a:r>
            <a:r>
              <a:rPr lang="en-US" altLang="ko-KR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</a:t>
            </a:r>
            <a:b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├── </a:t>
            </a:r>
            <a:r>
              <a:rPr lang="en-US" altLang="ko-KR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src</a:t>
            </a: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</a:t>
            </a:r>
          </a:p>
          <a:p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├── test/</a:t>
            </a:r>
            <a:b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</a:b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└── README.md</a:t>
            </a:r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6EC4DF-B083-DCA1-587F-F7D04F56C839}"/>
              </a:ext>
            </a:extLst>
          </p:cNvPr>
          <p:cNvSpPr txBox="1"/>
          <p:nvPr/>
        </p:nvSpPr>
        <p:spPr>
          <a:xfrm>
            <a:off x="5317066" y="5003800"/>
            <a:ext cx="3852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경로 구성 예시</a:t>
            </a:r>
          </a:p>
        </p:txBody>
      </p:sp>
    </p:spTree>
    <p:extLst>
      <p:ext uri="{BB962C8B-B14F-4D97-AF65-F5344CB8AC3E}">
        <p14:creationId xmlns:p14="http://schemas.microsoft.com/office/powerpoint/2010/main" val="3107130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6120E-5CCE-B55A-0333-48C1C430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파일 생성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B56B0B-C6C3-217D-9C66-37956CC394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300356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 err="1"/>
              <a:t>클로드에게</a:t>
            </a:r>
            <a:r>
              <a:rPr lang="ko-KR" altLang="en-US" dirty="0"/>
              <a:t> 지시한다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CLAUDE.md </a:t>
            </a:r>
            <a:r>
              <a:rPr lang="ko-KR" altLang="en-US" dirty="0"/>
              <a:t>파일 생성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21A93E5-14C6-9DB1-9035-4244F171A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483" y="2777066"/>
            <a:ext cx="5317067" cy="260390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02993568-2F85-750E-435E-0B4A901F9D4F}"/>
              </a:ext>
            </a:extLst>
          </p:cNvPr>
          <p:cNvGrpSpPr/>
          <p:nvPr/>
        </p:nvGrpSpPr>
        <p:grpSpPr>
          <a:xfrm>
            <a:off x="523876" y="2777066"/>
            <a:ext cx="4716994" cy="2631586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020B89A-269A-D66B-2136-AAB2B6320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051CC36-973E-679F-394F-27574EEB6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BE08C44-1875-B50A-8A56-AED97F95E38E}"/>
              </a:ext>
            </a:extLst>
          </p:cNvPr>
          <p:cNvSpPr txBox="1"/>
          <p:nvPr/>
        </p:nvSpPr>
        <p:spPr>
          <a:xfrm>
            <a:off x="1329614" y="4092859"/>
            <a:ext cx="4017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CLAUDE.md를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루트폴더에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하나 만들고,</a:t>
            </a:r>
          </a:p>
          <a:p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 빈 파일로 만들어줘</a:t>
            </a:r>
          </a:p>
          <a:p>
            <a:endParaRPr lang="ko-KR" altLang="en-US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FA20A-CAB0-9173-FBCB-FA739A7254E6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76798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9901A-5453-8AFA-5CFE-91AA07032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D2F93A-EE9D-0448-C741-2799962B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기본 내용 작성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FFC117-3CBB-02D1-7BBF-B0278D8FE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300356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 err="1"/>
              <a:t>클로드에게</a:t>
            </a:r>
            <a:r>
              <a:rPr lang="ko-KR" altLang="en-US" dirty="0"/>
              <a:t> 지시한다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CLAUDE.md</a:t>
            </a:r>
            <a:r>
              <a:rPr lang="ko-KR" altLang="en-US" dirty="0"/>
              <a:t>에는 프로젝트의 목적을 적어준다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203000C-533D-2E81-E465-C0C315F1BC6D}"/>
              </a:ext>
            </a:extLst>
          </p:cNvPr>
          <p:cNvGrpSpPr/>
          <p:nvPr/>
        </p:nvGrpSpPr>
        <p:grpSpPr>
          <a:xfrm>
            <a:off x="342940" y="2399537"/>
            <a:ext cx="6657552" cy="3714213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B4C2E027-8315-1EAA-4ED2-C3AC332A9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A251D7AF-F49F-12C0-B749-40648DC7C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985504C-846D-68DF-6ABD-7040B007C288}"/>
              </a:ext>
            </a:extLst>
          </p:cNvPr>
          <p:cNvSpPr txBox="1"/>
          <p:nvPr/>
        </p:nvSpPr>
        <p:spPr>
          <a:xfrm>
            <a:off x="1049766" y="3615680"/>
            <a:ext cx="53369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에다 아래 목적을 명시해줘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1)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가상데이터 생성하기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 상황을 가상으로 만들고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회의에서 이뤄지는 대화를 대본으로 작성한다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2)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 요약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Action Item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도출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회의에서 이뤄진 대화의 의도를 명확히 이해하고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정확한 회의록 및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Action Item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을 도출한다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466FAD-8BE7-1E6F-A0B4-45B2737400FD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742A282-CE67-2B6C-A2F9-7AB24D27F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9764" y="3013770"/>
            <a:ext cx="4050456" cy="24857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3096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2EFB-31D0-58BC-6278-25F12D70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CE100-34F4-6F75-E8C4-6F3EB006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초안 작성 요청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72FA57-5A4B-DBF2-4390-DB8D4871B3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143903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 err="1"/>
              <a:t>클로드에게</a:t>
            </a:r>
            <a:r>
              <a:rPr lang="ko-KR" altLang="en-US" dirty="0"/>
              <a:t> 지시한다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CLAUDE.md</a:t>
            </a:r>
            <a:r>
              <a:rPr lang="ko-KR" altLang="en-US" dirty="0"/>
              <a:t>에는 프로젝트 구성요소에 대한 설명을 적는다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dirty="0"/>
              <a:t>프로젝트가 지속적으로 발전하더라도</a:t>
            </a:r>
            <a:r>
              <a:rPr lang="en-US" altLang="ko-KR" dirty="0"/>
              <a:t>, </a:t>
            </a:r>
            <a:r>
              <a:rPr lang="ko-KR" altLang="en-US" dirty="0"/>
              <a:t>변경이 없는 내용을 적는 것이 좋다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295DF60-266B-CA0A-291E-932ABB3586DB}"/>
              </a:ext>
            </a:extLst>
          </p:cNvPr>
          <p:cNvGrpSpPr/>
          <p:nvPr/>
        </p:nvGrpSpPr>
        <p:grpSpPr>
          <a:xfrm>
            <a:off x="1116542" y="2844798"/>
            <a:ext cx="5016927" cy="2798917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70D7F61-0364-2818-8749-5DDE4779D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4C270DA9-4334-FFC7-9209-C7F05A9A1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4654CFA-59E7-EB5F-0D9B-DF96537C3FB6}"/>
              </a:ext>
            </a:extLst>
          </p:cNvPr>
          <p:cNvSpPr txBox="1"/>
          <p:nvPr/>
        </p:nvSpPr>
        <p:spPr>
          <a:xfrm>
            <a:off x="1616186" y="3884637"/>
            <a:ext cx="40176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반어법을 좋아하는 팀장님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꼼수 부리는 책임님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꼼꼼한 선임님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어리버리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사원님 이렇게 네 명의 독특한 임직원의 성격과 처한 개인적인 상황을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 초안을 적어줘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D7883-7382-049C-A759-F43065C9DED2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C13FFCC-05A6-4FDE-4CCC-FA6AE5479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738" y="2678471"/>
            <a:ext cx="3201394" cy="31936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16346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8EFED8-97B0-F439-CAAD-CDCD6769B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CLAUDE.md </a:t>
            </a:r>
            <a:r>
              <a:rPr lang="ko-KR" altLang="en-US" dirty="0"/>
              <a:t>되돌리기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D01544-D981-F5B1-9376-14C00A329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300356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/rewind</a:t>
            </a:r>
            <a:r>
              <a:rPr lang="ko-KR" altLang="en-US" dirty="0"/>
              <a:t> 명령어를 이용하여 이전 버전 문서로 되돌리자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그리고 다시 초안을 </a:t>
            </a:r>
            <a:r>
              <a:rPr lang="ko-KR" altLang="en-US" dirty="0" err="1"/>
              <a:t>작성해달라고</a:t>
            </a:r>
            <a:r>
              <a:rPr lang="ko-KR" altLang="en-US" dirty="0"/>
              <a:t> 하자</a:t>
            </a:r>
            <a:r>
              <a:rPr lang="en-US" altLang="ko-KR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rgbClr val="FF0000"/>
                </a:solidFill>
              </a:rPr>
              <a:t>프롬프트 실수를 하더라도 대화와 문서</a:t>
            </a:r>
            <a:r>
              <a:rPr lang="en-US" altLang="ko-KR" b="1" dirty="0">
                <a:solidFill>
                  <a:srgbClr val="FF0000"/>
                </a:solidFill>
              </a:rPr>
              <a:t>(Code)</a:t>
            </a:r>
            <a:r>
              <a:rPr lang="ko-KR" altLang="en-US" b="1" dirty="0">
                <a:solidFill>
                  <a:srgbClr val="FF0000"/>
                </a:solidFill>
              </a:rPr>
              <a:t> 모두 복원시킬 수 있음을 이해하자</a:t>
            </a:r>
            <a:r>
              <a:rPr lang="en-US" altLang="ko-KR" b="1" dirty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9709F2-1F06-9DF9-A677-E8BC97C37F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32"/>
          <a:stretch>
            <a:fillRect/>
          </a:stretch>
        </p:blipFill>
        <p:spPr>
          <a:xfrm>
            <a:off x="519335" y="2769386"/>
            <a:ext cx="1685748" cy="13073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064CA1C-6DB7-F117-1959-BB9CCEB66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974" y="4648770"/>
            <a:ext cx="4468803" cy="1713202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BF87199E-DA11-5FDC-F3C4-C0684BE83244}"/>
              </a:ext>
            </a:extLst>
          </p:cNvPr>
          <p:cNvGrpSpPr/>
          <p:nvPr/>
        </p:nvGrpSpPr>
        <p:grpSpPr>
          <a:xfrm>
            <a:off x="7357729" y="4006232"/>
            <a:ext cx="4222553" cy="2355740"/>
            <a:chOff x="600075" y="2582332"/>
            <a:chExt cx="5517017" cy="307791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A228130-A4D9-2DB5-9296-91BE44019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E47AA0E-A21F-70F7-B235-CEDB3E03E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82D110B-76FC-32A6-A46D-F9D233C602FC}"/>
              </a:ext>
            </a:extLst>
          </p:cNvPr>
          <p:cNvSpPr txBox="1"/>
          <p:nvPr/>
        </p:nvSpPr>
        <p:spPr>
          <a:xfrm>
            <a:off x="7621912" y="4831817"/>
            <a:ext cx="40176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반어법을 좋아하는 팀장님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꼼수 부리는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책임님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꼼꼼한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선임님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어리버리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사원님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이렇게 네 명의 독특한 임직원의 성격과 처한 개인적인 상황을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 초안을 적어줘</a:t>
            </a: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E815C9C9-360D-2374-C95F-889E664E1B7E}"/>
              </a:ext>
            </a:extLst>
          </p:cNvPr>
          <p:cNvSpPr/>
          <p:nvPr/>
        </p:nvSpPr>
        <p:spPr>
          <a:xfrm>
            <a:off x="4156140" y="4076768"/>
            <a:ext cx="545459" cy="537415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EE11D46A-6D26-F7B6-A3EE-637AC7230CE0}"/>
              </a:ext>
            </a:extLst>
          </p:cNvPr>
          <p:cNvSpPr/>
          <p:nvPr/>
        </p:nvSpPr>
        <p:spPr>
          <a:xfrm>
            <a:off x="6644908" y="5197804"/>
            <a:ext cx="541867" cy="591467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44E5866-76D4-9869-D53F-E88C5CBED4E3}"/>
              </a:ext>
            </a:extLst>
          </p:cNvPr>
          <p:cNvSpPr/>
          <p:nvPr/>
        </p:nvSpPr>
        <p:spPr>
          <a:xfrm>
            <a:off x="519335" y="2963333"/>
            <a:ext cx="1188594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DFDA6F3-4675-6765-2EB5-7E94802C45BF}"/>
              </a:ext>
            </a:extLst>
          </p:cNvPr>
          <p:cNvSpPr/>
          <p:nvPr/>
        </p:nvSpPr>
        <p:spPr>
          <a:xfrm>
            <a:off x="2065828" y="5154784"/>
            <a:ext cx="2420720" cy="1900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ED08B-357D-2CE0-52E6-E1FA55AC0D75}"/>
              </a:ext>
            </a:extLst>
          </p:cNvPr>
          <p:cNvSpPr txBox="1"/>
          <p:nvPr/>
        </p:nvSpPr>
        <p:spPr>
          <a:xfrm>
            <a:off x="3137080" y="3080469"/>
            <a:ext cx="25835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되돌아갈 </a:t>
            </a:r>
            <a:endParaRPr lang="en-US" altLang="ko-KR" sz="24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시점을 선택</a:t>
            </a:r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2B2F6987-D410-D6FB-5BDE-17A316A1A8DA}"/>
              </a:ext>
            </a:extLst>
          </p:cNvPr>
          <p:cNvSpPr/>
          <p:nvPr/>
        </p:nvSpPr>
        <p:spPr>
          <a:xfrm rot="16200000">
            <a:off x="2404947" y="3041216"/>
            <a:ext cx="654766" cy="67035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644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F23C-C45B-6B0C-42D5-980624393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ADBFD-1220-9765-167F-6A19BF6F3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프로젝트 규칙 설정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843FC-561B-24CB-68A4-2BC6C67A88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 err="1"/>
              <a:t>클로드에게</a:t>
            </a:r>
            <a:r>
              <a:rPr lang="ko-KR" altLang="en-US" dirty="0"/>
              <a:t> 지시한다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CLAUDE.md</a:t>
            </a:r>
            <a:r>
              <a:rPr lang="ko-KR" altLang="en-US" dirty="0"/>
              <a:t>에 프로젝트의 규칙</a:t>
            </a:r>
            <a:r>
              <a:rPr lang="en-US" altLang="ko-KR" dirty="0"/>
              <a:t>(Rule)</a:t>
            </a:r>
            <a:r>
              <a:rPr lang="ko-KR" altLang="en-US" dirty="0"/>
              <a:t>을 명시한다</a:t>
            </a:r>
            <a:r>
              <a:rPr lang="en-US" altLang="ko-KR" dirty="0"/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6ADE196-7534-10EE-EBFC-EF5614076C66}"/>
              </a:ext>
            </a:extLst>
          </p:cNvPr>
          <p:cNvGrpSpPr/>
          <p:nvPr/>
        </p:nvGrpSpPr>
        <p:grpSpPr>
          <a:xfrm>
            <a:off x="772413" y="2844799"/>
            <a:ext cx="5510395" cy="3074220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A0F07ED-118C-431D-69BA-00FE8374D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726B431-6C40-F6F5-BE85-682133C9C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60619CD-2169-675F-5063-D0D79271F21A}"/>
              </a:ext>
            </a:extLst>
          </p:cNvPr>
          <p:cNvSpPr txBox="1"/>
          <p:nvPr/>
        </p:nvSpPr>
        <p:spPr>
          <a:xfrm>
            <a:off x="1329614" y="3986917"/>
            <a:ext cx="40176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 대본 작성에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Rule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을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CLAUDE.md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 더 기입하자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임직원의 대사는 최대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200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자 밑으로 말하고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구어체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반말이 아닌 경어를 사용해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총 대화의 내용은 최대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300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줄이내로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만들어진다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A10B2-CC94-E5B4-23DF-01C777DCCEF3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050076-71C9-97E0-B37B-E4F6D5079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654" y="2761393"/>
            <a:ext cx="4788146" cy="30545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6770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8218B-06D2-60D6-3047-08D36E18A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CFDDD-8A17-B379-F441-547887C9F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파일 생성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7E526B-0EBA-01EE-F620-48FB8960E1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826141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 err="1"/>
              <a:t>클로드에게</a:t>
            </a:r>
            <a:r>
              <a:rPr lang="ko-KR" altLang="en-US" dirty="0"/>
              <a:t> 지시한다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CLAUDE.md</a:t>
            </a:r>
            <a:r>
              <a:rPr lang="ko-KR" altLang="en-US" dirty="0"/>
              <a:t>에 변경이 많을 것 같은 부분이 들어있어</a:t>
            </a:r>
            <a:r>
              <a:rPr lang="en-US" altLang="ko-KR" dirty="0"/>
              <a:t>, </a:t>
            </a:r>
            <a:r>
              <a:rPr lang="ko-KR" altLang="en-US" dirty="0"/>
              <a:t>내용을 분리하고자 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dirty="0"/>
              <a:t>임직원이 처한 개인적 상황은 지속적으로 변경될 것으로 예상이 되기 때문이다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dirty="0"/>
              <a:t>먼저 파일을 생성시킨다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500F4BC-29EC-DE29-87D0-96E68D4C74FD}"/>
              </a:ext>
            </a:extLst>
          </p:cNvPr>
          <p:cNvGrpSpPr/>
          <p:nvPr/>
        </p:nvGrpSpPr>
        <p:grpSpPr>
          <a:xfrm>
            <a:off x="1379006" y="3115732"/>
            <a:ext cx="4716994" cy="2631586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E754F3EA-7FC7-4EF8-982A-01B4BD203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84A13DE-58D1-EB34-0AD1-2AD9080EC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38682A8-B404-9A5C-4275-8CB73E725F5E}"/>
              </a:ext>
            </a:extLst>
          </p:cNvPr>
          <p:cNvSpPr txBox="1"/>
          <p:nvPr/>
        </p:nvSpPr>
        <p:spPr>
          <a:xfrm>
            <a:off x="1743325" y="4070773"/>
            <a:ext cx="40176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docs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폴더를 만들고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 폴더 내부에 임직원들 이름별로 빈 파일을 하나씩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 만들어줘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팀장님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.md,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책임님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r>
              <a:rPr lang="en-US" altLang="ko-KR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md.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이렇게 직급별 파일을 만들어줘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FDB0E-AC35-16F4-37F9-C7B83174C03B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A2ABEB-5F4F-702C-B78C-1F3EC937E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435" y="3140729"/>
            <a:ext cx="1664551" cy="26751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55870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E2392-DBBF-73BA-2EEE-7869DC782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CD421-CE2A-C9BC-F2F4-DC2071E79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파일 생성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E98C0-1AD9-5FEC-E709-4025FE6EDC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 err="1"/>
              <a:t>클로드에게</a:t>
            </a:r>
            <a:r>
              <a:rPr lang="ko-KR" altLang="en-US" dirty="0"/>
              <a:t> 지시한다</a:t>
            </a:r>
            <a:r>
              <a:rPr lang="en-US" altLang="ko-KR" dirty="0"/>
              <a:t>.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ko-KR" altLang="en-US" dirty="0" err="1"/>
              <a:t>리팩토링을</a:t>
            </a:r>
            <a:r>
              <a:rPr lang="ko-KR" altLang="en-US" dirty="0"/>
              <a:t> 지시한다</a:t>
            </a:r>
            <a:r>
              <a:rPr lang="en-US" altLang="ko-KR" dirty="0"/>
              <a:t>. CLAUDE.md </a:t>
            </a:r>
            <a:r>
              <a:rPr lang="ko-KR" altLang="en-US" dirty="0"/>
              <a:t>에 있는 임직원 정보를 각 파일로 이동시키자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48473C2-8D91-889D-233A-2B08502C84D6}"/>
              </a:ext>
            </a:extLst>
          </p:cNvPr>
          <p:cNvGrpSpPr/>
          <p:nvPr/>
        </p:nvGrpSpPr>
        <p:grpSpPr>
          <a:xfrm>
            <a:off x="824824" y="2761281"/>
            <a:ext cx="4716994" cy="2631586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FA07097-60A5-CE58-FC5C-8F9DE04BF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8B54D77-0DBB-6F7A-4A9D-69A969E59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F6AEE6F-C235-E443-1748-001EFC0E89B3}"/>
              </a:ext>
            </a:extLst>
          </p:cNvPr>
          <p:cNvSpPr txBox="1"/>
          <p:nvPr/>
        </p:nvSpPr>
        <p:spPr>
          <a:xfrm>
            <a:off x="1225797" y="3663282"/>
            <a:ext cx="40176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내용을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리팩토링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하고자해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CLAUDE.md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 있는 임직원의 정보를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docs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 각 임직원 파일에 내용을 이동시키고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CLAUDE.md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는 파일 정보를 기입해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6C51EA-D9FE-E7B3-F52B-515025DF3796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A852F49-FCA0-F759-8C4B-76C3CA3DE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16569"/>
            <a:ext cx="5391427" cy="21210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79036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6CE4-4015-35F4-BE64-CAB5EFCEC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5FD8B-AA71-8394-9D13-E733C2012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CLAUDE.md </a:t>
            </a:r>
            <a:r>
              <a:rPr lang="ko-KR" altLang="en-US" dirty="0"/>
              <a:t>파일 생성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94F82-847F-6CFF-7E8D-A260AD99CF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7. </a:t>
            </a:r>
            <a:r>
              <a:rPr lang="ko-KR" altLang="en-US" dirty="0"/>
              <a:t>가상 회의 내용 요약</a:t>
            </a:r>
            <a:r>
              <a:rPr lang="en-US" altLang="ko-KR" dirty="0"/>
              <a:t> </a:t>
            </a:r>
            <a:r>
              <a:rPr lang="ko-KR" altLang="en-US" dirty="0"/>
              <a:t>작성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EF83309-3639-E75B-CC8F-04397C3CF365}"/>
              </a:ext>
            </a:extLst>
          </p:cNvPr>
          <p:cNvGrpSpPr/>
          <p:nvPr/>
        </p:nvGrpSpPr>
        <p:grpSpPr>
          <a:xfrm>
            <a:off x="390318" y="2054586"/>
            <a:ext cx="6140440" cy="3425718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8A77447E-F915-016C-C57C-D303D3CE6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0211683-225B-1414-C1A4-7049042A7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9A1C7F6-8000-720A-9A8C-7A03D88007A3}"/>
              </a:ext>
            </a:extLst>
          </p:cNvPr>
          <p:cNvSpPr txBox="1"/>
          <p:nvPr/>
        </p:nvSpPr>
        <p:spPr>
          <a:xfrm>
            <a:off x="864577" y="3221100"/>
            <a:ext cx="552306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차량 불량 데이터 분석 결과에 대해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임원 보고용 자료를 만들기 위한 회의 대화 내용을 창작하여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'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회의내용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.md'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파일에 기록해줘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임직원 성격에 맞게 작성하고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</a:t>
            </a: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대화 속에서 여러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Action Item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들이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숨어있어야해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lvl="1"/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 내용을 정리하거나 요약하는 행동은 하지 않아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81C25-F7B3-7F44-2AB2-136942276ABA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7C831F-2C2F-6D0F-E581-5987AF432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999" y="2370507"/>
            <a:ext cx="4504551" cy="29763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9092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FD7AF-E98A-ADA0-C6C1-F60612D97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84C7396-BD5D-8CB5-13ED-1432AEA0B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Subagent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7F39FAF-D534-059A-DA97-FD298AA43B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04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4E1102-26E7-0043-F40A-1717C90AA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Claude Code </a:t>
            </a:r>
            <a:r>
              <a:rPr lang="ko-KR" altLang="en-US" dirty="0"/>
              <a:t>기본</a:t>
            </a:r>
          </a:p>
        </p:txBody>
      </p:sp>
    </p:spTree>
    <p:extLst>
      <p:ext uri="{BB962C8B-B14F-4D97-AF65-F5344CB8AC3E}">
        <p14:creationId xmlns:p14="http://schemas.microsoft.com/office/powerpoint/2010/main" val="3545170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51049-E713-6942-4CC0-585D552A6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A6C66-6FAC-64F5-F5CA-B1E59F686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사전지식 </a:t>
            </a:r>
            <a:r>
              <a:rPr lang="en-US" altLang="ko-KR" dirty="0"/>
              <a:t>- Context Window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F83F8F-4871-C484-D526-DE7FE312F9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3275256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dirty="0"/>
              <a:t>Prompt</a:t>
            </a:r>
            <a:r>
              <a:rPr lang="ko-KR" altLang="en-US" sz="2000" dirty="0"/>
              <a:t>가 입력되면 바로 </a:t>
            </a:r>
            <a:r>
              <a:rPr lang="en-US" altLang="ko-KR" sz="2000" dirty="0"/>
              <a:t>LLM</a:t>
            </a:r>
            <a:r>
              <a:rPr lang="ko-KR" altLang="en-US" sz="2000" dirty="0"/>
              <a:t>에 들어가지 않고</a:t>
            </a:r>
            <a:r>
              <a:rPr lang="en-US" altLang="ko-KR" sz="2000" dirty="0"/>
              <a:t>, </a:t>
            </a:r>
          </a:p>
          <a:p>
            <a:pPr marL="0" indent="0">
              <a:buNone/>
            </a:pPr>
            <a:r>
              <a:rPr lang="en-US" altLang="ko-KR" sz="2000" dirty="0"/>
              <a:t>Context Window </a:t>
            </a:r>
            <a:r>
              <a:rPr lang="ko-KR" altLang="en-US" sz="2000" dirty="0"/>
              <a:t>라는 곳에 내용</a:t>
            </a:r>
            <a:r>
              <a:rPr lang="en-US" altLang="ko-KR" sz="2000" dirty="0"/>
              <a:t>(Context)</a:t>
            </a:r>
            <a:r>
              <a:rPr lang="ko-KR" altLang="en-US" sz="2000" dirty="0"/>
              <a:t>을 채운 후</a:t>
            </a:r>
            <a:r>
              <a:rPr lang="en-US" altLang="ko-KR" sz="2000" dirty="0"/>
              <a:t>, </a:t>
            </a:r>
            <a:r>
              <a:rPr lang="ko-KR" altLang="en-US" sz="2000" dirty="0"/>
              <a:t>이 내용이 </a:t>
            </a:r>
            <a:r>
              <a:rPr lang="en-US" altLang="ko-KR" sz="2000" dirty="0"/>
              <a:t>LLM</a:t>
            </a:r>
            <a:r>
              <a:rPr lang="ko-KR" altLang="en-US" sz="2000" dirty="0"/>
              <a:t>에 입력된다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b="1" dirty="0"/>
              <a:t>Context Window</a:t>
            </a:r>
          </a:p>
          <a:p>
            <a:pPr marL="228600" lvl="1"/>
            <a:r>
              <a:rPr lang="en-US" altLang="ko-KR" sz="1800" dirty="0"/>
              <a:t>-</a:t>
            </a:r>
            <a:r>
              <a:rPr lang="ko-KR" altLang="en-US" sz="1800" dirty="0"/>
              <a:t> </a:t>
            </a:r>
            <a:r>
              <a:rPr lang="ko-KR" altLang="en-US" sz="1800" dirty="0">
                <a:solidFill>
                  <a:srgbClr val="FF0000"/>
                </a:solidFill>
              </a:rPr>
              <a:t>모델이 한번에 받아들이는 입력될 내용의 영역</a:t>
            </a:r>
            <a:r>
              <a:rPr lang="en-US" altLang="ko-KR" sz="1800" dirty="0">
                <a:solidFill>
                  <a:srgbClr val="FF0000"/>
                </a:solidFill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</a:rPr>
              <a:t>공간</a:t>
            </a:r>
          </a:p>
          <a:p>
            <a:pPr marL="228600" lvl="1"/>
            <a:r>
              <a:rPr lang="en-US" altLang="ko-KR" sz="1800" dirty="0"/>
              <a:t>- Context Window</a:t>
            </a:r>
            <a:r>
              <a:rPr lang="ko-KR" altLang="en-US" sz="1800" dirty="0"/>
              <a:t>는 아래 내용들이 포함된다</a:t>
            </a:r>
            <a:r>
              <a:rPr lang="en-US" altLang="ko-KR" sz="1800" dirty="0"/>
              <a:t>.</a:t>
            </a:r>
          </a:p>
          <a:p>
            <a:pPr marL="914400" lvl="2"/>
            <a:r>
              <a:rPr lang="ko-KR" altLang="en-US" sz="1800" dirty="0"/>
              <a:t>사용자 입력 </a:t>
            </a:r>
            <a:r>
              <a:rPr lang="en-US" altLang="ko-KR" sz="1800" dirty="0"/>
              <a:t>(</a:t>
            </a:r>
            <a:r>
              <a:rPr lang="ko-KR" altLang="en-US" sz="1800" dirty="0"/>
              <a:t>프롬프트</a:t>
            </a:r>
            <a:r>
              <a:rPr lang="en-US" altLang="ko-KR" sz="1800" dirty="0"/>
              <a:t>)</a:t>
            </a:r>
          </a:p>
          <a:p>
            <a:pPr marL="914400" lvl="2"/>
            <a:r>
              <a:rPr lang="ko-KR" altLang="en-US" sz="1800" dirty="0"/>
              <a:t>파일 내용들 </a:t>
            </a:r>
            <a:r>
              <a:rPr lang="en-US" altLang="ko-KR" sz="1800" dirty="0"/>
              <a:t>(CLAUDE.md, </a:t>
            </a:r>
            <a:r>
              <a:rPr lang="ko-KR" altLang="en-US" sz="1800" dirty="0"/>
              <a:t>소스코드들</a:t>
            </a:r>
            <a:r>
              <a:rPr lang="en-US" altLang="ko-KR" sz="1800" dirty="0"/>
              <a:t>)</a:t>
            </a:r>
          </a:p>
          <a:p>
            <a:pPr marL="914400" lvl="2"/>
            <a:r>
              <a:rPr lang="en-US" altLang="ko-KR" sz="1800" dirty="0"/>
              <a:t>Code Agent </a:t>
            </a:r>
            <a:r>
              <a:rPr lang="ko-KR" altLang="en-US" sz="1800" dirty="0"/>
              <a:t>가 내부적으로 사용하는 </a:t>
            </a:r>
            <a:r>
              <a:rPr lang="en-US" altLang="ko-KR" sz="1800" dirty="0"/>
              <a:t>Text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BCD7CC-765E-ECBD-4639-54CEC2115574}"/>
              </a:ext>
            </a:extLst>
          </p:cNvPr>
          <p:cNvSpPr/>
          <p:nvPr/>
        </p:nvSpPr>
        <p:spPr>
          <a:xfrm>
            <a:off x="6519697" y="4951300"/>
            <a:ext cx="1967550" cy="11289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LLM </a:t>
            </a:r>
            <a:r>
              <a:rPr lang="ko-KR" altLang="en-US" sz="32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모델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F5208-1D49-1D00-BFB5-B9CEEAE53DA9}"/>
              </a:ext>
            </a:extLst>
          </p:cNvPr>
          <p:cNvSpPr txBox="1"/>
          <p:nvPr/>
        </p:nvSpPr>
        <p:spPr>
          <a:xfrm>
            <a:off x="3332811" y="5038742"/>
            <a:ext cx="22521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Context</a:t>
            </a:r>
            <a:r>
              <a:rPr lang="ko-KR" altLang="en-US" sz="28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en-US" altLang="ko-KR" sz="28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Window</a:t>
            </a:r>
            <a:endParaRPr lang="ko-KR" altLang="en-US" sz="28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F550D39-EE79-B774-764A-1A1155945A3D}"/>
              </a:ext>
            </a:extLst>
          </p:cNvPr>
          <p:cNvSpPr/>
          <p:nvPr/>
        </p:nvSpPr>
        <p:spPr>
          <a:xfrm>
            <a:off x="2741507" y="5333097"/>
            <a:ext cx="547863" cy="514831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76B8DD-8B1C-5C3A-107F-9380404E456D}"/>
              </a:ext>
            </a:extLst>
          </p:cNvPr>
          <p:cNvSpPr txBox="1"/>
          <p:nvPr/>
        </p:nvSpPr>
        <p:spPr>
          <a:xfrm>
            <a:off x="9387416" y="5263153"/>
            <a:ext cx="2252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코딩수행</a:t>
            </a:r>
            <a:endParaRPr lang="en-US" altLang="ko-KR" sz="32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6665B5-7A7D-993C-F19B-7D3863BBF767}"/>
              </a:ext>
            </a:extLst>
          </p:cNvPr>
          <p:cNvSpPr txBox="1"/>
          <p:nvPr/>
        </p:nvSpPr>
        <p:spPr>
          <a:xfrm>
            <a:off x="662307" y="5038741"/>
            <a:ext cx="19675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Prompt</a:t>
            </a:r>
          </a:p>
          <a:p>
            <a:pPr algn="ctr"/>
            <a:r>
              <a:rPr lang="ko-KR" altLang="en-US" sz="28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입력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86BB5A93-2639-2185-B054-3F4C1F48181F}"/>
              </a:ext>
            </a:extLst>
          </p:cNvPr>
          <p:cNvSpPr/>
          <p:nvPr/>
        </p:nvSpPr>
        <p:spPr>
          <a:xfrm>
            <a:off x="5686245" y="5338489"/>
            <a:ext cx="547863" cy="514831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5142B46-8378-FB97-7BDB-8D643DC29464}"/>
              </a:ext>
            </a:extLst>
          </p:cNvPr>
          <p:cNvSpPr/>
          <p:nvPr/>
        </p:nvSpPr>
        <p:spPr>
          <a:xfrm>
            <a:off x="8839553" y="5333097"/>
            <a:ext cx="547863" cy="514831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C66F50-B11A-C285-D6E3-374583F8D15A}"/>
              </a:ext>
            </a:extLst>
          </p:cNvPr>
          <p:cNvSpPr/>
          <p:nvPr/>
        </p:nvSpPr>
        <p:spPr>
          <a:xfrm>
            <a:off x="3451584" y="4569810"/>
            <a:ext cx="5231219" cy="183094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9A4CDB6-FD37-DE8A-E630-CAA220B58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959" y="4853151"/>
            <a:ext cx="1838711" cy="13790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97342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416B4-2B4B-A01E-CC4B-3568F55B4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스토리 작성 계획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488E91-EE29-826F-16AB-30273A2705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198259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이제 대본을 만들고자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대본을 만들 때 두 가지 방법으로 지시할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단일 </a:t>
            </a:r>
            <a:r>
              <a:rPr lang="en-US" altLang="ko-KR" dirty="0"/>
              <a:t>Agent / </a:t>
            </a:r>
            <a:r>
              <a:rPr lang="ko-KR" altLang="en-US" dirty="0"/>
              <a:t>멀티 </a:t>
            </a:r>
            <a:r>
              <a:rPr lang="en-US" altLang="ko-KR" dirty="0"/>
              <a:t>Agent</a:t>
            </a:r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둘 중 결과물이 더 좋은 방법은</a:t>
            </a:r>
            <a:r>
              <a:rPr lang="en-US" altLang="ko-KR" b="1" dirty="0">
                <a:solidFill>
                  <a:srgbClr val="FF0000"/>
                </a:solidFill>
              </a:rPr>
              <a:t>? --&gt; </a:t>
            </a:r>
            <a:r>
              <a:rPr lang="ko-KR" altLang="en-US" b="1" dirty="0">
                <a:solidFill>
                  <a:srgbClr val="FF0000"/>
                </a:solidFill>
              </a:rPr>
              <a:t>멀티 </a:t>
            </a:r>
            <a:r>
              <a:rPr lang="en-US" altLang="ko-KR" b="1" dirty="0">
                <a:solidFill>
                  <a:srgbClr val="FF0000"/>
                </a:solidFill>
              </a:rPr>
              <a:t>Agent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pic>
        <p:nvPicPr>
          <p:cNvPr id="5" name="그래픽 4" descr="남자 옆모습 단색으로 채워진">
            <a:extLst>
              <a:ext uri="{FF2B5EF4-FFF2-40B4-BE49-F238E27FC236}">
                <a16:creationId xmlns:a16="http://schemas.microsoft.com/office/drawing/2014/main" id="{A706B603-4F01-DBA5-04C1-57B8CA646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290" y="3062135"/>
            <a:ext cx="2353734" cy="2353734"/>
          </a:xfrm>
          <a:prstGeom prst="rect">
            <a:avLst/>
          </a:prstGeom>
        </p:spPr>
      </p:pic>
      <p:pic>
        <p:nvPicPr>
          <p:cNvPr id="7" name="그래픽 6" descr="사용자 단색으로 채워진">
            <a:extLst>
              <a:ext uri="{FF2B5EF4-FFF2-40B4-BE49-F238E27FC236}">
                <a16:creationId xmlns:a16="http://schemas.microsoft.com/office/drawing/2014/main" id="{36B9DE24-0F3C-3CBA-418E-FC31E4019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0787" y="3596674"/>
            <a:ext cx="2974200" cy="2974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A51163-2BF9-EFBE-EDDB-D2E215BAB163}"/>
              </a:ext>
            </a:extLst>
          </p:cNvPr>
          <p:cNvSpPr txBox="1"/>
          <p:nvPr/>
        </p:nvSpPr>
        <p:spPr>
          <a:xfrm>
            <a:off x="2135992" y="5585067"/>
            <a:ext cx="4148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단일 </a:t>
            </a:r>
            <a:r>
              <a:rPr lang="en-US" altLang="ko-KR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endParaRPr lang="ko-KR" altLang="en-US" sz="24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1D8CDD-2B7B-4AEC-AF05-06D9346D11FD}"/>
              </a:ext>
            </a:extLst>
          </p:cNvPr>
          <p:cNvSpPr txBox="1"/>
          <p:nvPr/>
        </p:nvSpPr>
        <p:spPr>
          <a:xfrm>
            <a:off x="8576797" y="6199991"/>
            <a:ext cx="3062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멀티 </a:t>
            </a:r>
            <a:r>
              <a:rPr lang="en-US" altLang="ko-KR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endParaRPr lang="ko-KR" altLang="en-US" sz="24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5D7205-A5EE-52DD-5590-B8374F0697A7}"/>
              </a:ext>
            </a:extLst>
          </p:cNvPr>
          <p:cNvSpPr txBox="1"/>
          <p:nvPr/>
        </p:nvSpPr>
        <p:spPr>
          <a:xfrm>
            <a:off x="2263209" y="3241264"/>
            <a:ext cx="36999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대화 내용을 모두 읽고 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 요약 및 </a:t>
            </a: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Action Item 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도출할 것이야</a:t>
            </a: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임직원들 각자 성격을 기반으로 어떤 의도로 말을 했는지 파악까지 하면서</a:t>
            </a: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대화 흐름 및 목적을 </a:t>
            </a:r>
            <a:r>
              <a:rPr lang="ko-KR" altLang="en-US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이해해야해</a:t>
            </a:r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결과물이 맞는지도 추가 검증해줘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C6FA70-2198-F29D-D5C9-EE80200F835F}"/>
              </a:ext>
            </a:extLst>
          </p:cNvPr>
          <p:cNvSpPr txBox="1"/>
          <p:nvPr/>
        </p:nvSpPr>
        <p:spPr>
          <a:xfrm>
            <a:off x="8236078" y="5411841"/>
            <a:ext cx="1820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상황파악</a:t>
            </a:r>
            <a:endParaRPr lang="en-US" altLang="ko-KR" sz="1400" b="1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4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전문가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571471-4F3D-F5F2-9B17-F00A75DF2DB2}"/>
              </a:ext>
            </a:extLst>
          </p:cNvPr>
          <p:cNvSpPr txBox="1"/>
          <p:nvPr/>
        </p:nvSpPr>
        <p:spPr>
          <a:xfrm>
            <a:off x="7483406" y="5010740"/>
            <a:ext cx="1820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의도파악</a:t>
            </a:r>
            <a:endParaRPr lang="en-US" altLang="ko-KR" sz="1200" b="1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전문가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06638-AAAB-297B-2CBC-39FCB32132D2}"/>
              </a:ext>
            </a:extLst>
          </p:cNvPr>
          <p:cNvSpPr txBox="1"/>
          <p:nvPr/>
        </p:nvSpPr>
        <p:spPr>
          <a:xfrm>
            <a:off x="9255673" y="5000866"/>
            <a:ext cx="1820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</a:t>
            </a:r>
            <a:endParaRPr lang="en-US" altLang="ko-KR" sz="1200" b="1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전문가</a:t>
            </a:r>
          </a:p>
        </p:txBody>
      </p:sp>
      <p:pic>
        <p:nvPicPr>
          <p:cNvPr id="20" name="그래픽 19" descr="콜 센터 단색으로 채워진">
            <a:extLst>
              <a:ext uri="{FF2B5EF4-FFF2-40B4-BE49-F238E27FC236}">
                <a16:creationId xmlns:a16="http://schemas.microsoft.com/office/drawing/2014/main" id="{C551BAA5-7857-19CA-B68A-158F945DBC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3540" y="2243812"/>
            <a:ext cx="1913261" cy="191326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E974C2E-7C2A-8833-D4D6-DDA6D36DEFAD}"/>
              </a:ext>
            </a:extLst>
          </p:cNvPr>
          <p:cNvSpPr txBox="1"/>
          <p:nvPr/>
        </p:nvSpPr>
        <p:spPr>
          <a:xfrm>
            <a:off x="8818068" y="3527424"/>
            <a:ext cx="873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총 감독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5AF81F8-000C-6B5B-B2BF-2FFF18126DFB}"/>
              </a:ext>
            </a:extLst>
          </p:cNvPr>
          <p:cNvSpPr/>
          <p:nvPr/>
        </p:nvSpPr>
        <p:spPr>
          <a:xfrm>
            <a:off x="6939665" y="2342456"/>
            <a:ext cx="4896735" cy="37718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83CF82-430E-0C3E-578C-BBBAA37322A5}"/>
              </a:ext>
            </a:extLst>
          </p:cNvPr>
          <p:cNvSpPr/>
          <p:nvPr/>
        </p:nvSpPr>
        <p:spPr>
          <a:xfrm>
            <a:off x="355600" y="3062135"/>
            <a:ext cx="5534471" cy="22887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1925A9A8-CB21-3B74-3DC5-626B348F7E10}"/>
              </a:ext>
            </a:extLst>
          </p:cNvPr>
          <p:cNvCxnSpPr>
            <a:cxnSpLocks/>
          </p:cNvCxnSpPr>
          <p:nvPr/>
        </p:nvCxnSpPr>
        <p:spPr>
          <a:xfrm>
            <a:off x="6284659" y="2906575"/>
            <a:ext cx="0" cy="37719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FFCCE62-CD48-FE73-0DB8-46136B398AF3}"/>
              </a:ext>
            </a:extLst>
          </p:cNvPr>
          <p:cNvSpPr txBox="1"/>
          <p:nvPr/>
        </p:nvSpPr>
        <p:spPr>
          <a:xfrm>
            <a:off x="9822967" y="3086076"/>
            <a:ext cx="24299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각자 순서에 맞게</a:t>
            </a:r>
            <a:endParaRPr lang="en-US" altLang="ko-KR" sz="11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일을 </a:t>
            </a:r>
            <a:r>
              <a:rPr lang="ko-KR" altLang="en-US" sz="1100" dirty="0" err="1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하시오</a:t>
            </a:r>
            <a:r>
              <a:rPr lang="en-US" altLang="ko-KR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endParaRPr lang="ko-KR" altLang="en-US" sz="11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759C55-0577-AF28-640C-D91042B0E419}"/>
              </a:ext>
            </a:extLst>
          </p:cNvPr>
          <p:cNvSpPr txBox="1"/>
          <p:nvPr/>
        </p:nvSpPr>
        <p:spPr>
          <a:xfrm>
            <a:off x="10362262" y="5673792"/>
            <a:ext cx="18203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 내용을</a:t>
            </a:r>
            <a:endParaRPr lang="en-US" altLang="ko-KR" sz="11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이해하기 쉽게 </a:t>
            </a:r>
            <a:endParaRPr lang="en-US" altLang="ko-KR" sz="11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글 정리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BFFBC0-DB7F-E404-31F2-FECE4388BC18}"/>
              </a:ext>
            </a:extLst>
          </p:cNvPr>
          <p:cNvSpPr txBox="1"/>
          <p:nvPr/>
        </p:nvSpPr>
        <p:spPr>
          <a:xfrm>
            <a:off x="7279950" y="5729516"/>
            <a:ext cx="12171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감정을 배제</a:t>
            </a:r>
            <a:r>
              <a:rPr lang="en-US" altLang="ko-KR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</a:t>
            </a:r>
          </a:p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객관적 현상만</a:t>
            </a:r>
            <a:endParaRPr lang="en-US" altLang="ko-KR" sz="11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정확히 분석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3AD63E-D662-2CEC-FB19-3DA8D435D793}"/>
              </a:ext>
            </a:extLst>
          </p:cNvPr>
          <p:cNvSpPr txBox="1"/>
          <p:nvPr/>
        </p:nvSpPr>
        <p:spPr>
          <a:xfrm>
            <a:off x="6479544" y="4513054"/>
            <a:ext cx="242993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임직원 성격을 </a:t>
            </a:r>
            <a:endParaRPr lang="en-US" altLang="ko-KR" sz="11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다 알고 각 대화의 </a:t>
            </a:r>
            <a:endParaRPr lang="en-US" altLang="ko-KR" sz="11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의도를 파악</a:t>
            </a:r>
          </a:p>
        </p:txBody>
      </p:sp>
      <p:pic>
        <p:nvPicPr>
          <p:cNvPr id="6" name="그래픽 5" descr="사용자 단색으로 채워진">
            <a:extLst>
              <a:ext uri="{FF2B5EF4-FFF2-40B4-BE49-F238E27FC236}">
                <a16:creationId xmlns:a16="http://schemas.microsoft.com/office/drawing/2014/main" id="{7FD10A71-D74B-5573-3BE5-2E6590D1CD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77596" y="4492442"/>
            <a:ext cx="1396794" cy="13967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4BC1FD-1B0C-AF80-050D-2A0562734ED1}"/>
              </a:ext>
            </a:extLst>
          </p:cNvPr>
          <p:cNvSpPr txBox="1"/>
          <p:nvPr/>
        </p:nvSpPr>
        <p:spPr>
          <a:xfrm>
            <a:off x="10471691" y="5376629"/>
            <a:ext cx="1820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글정돈</a:t>
            </a:r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전문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E4B95D-9F6A-4A6B-4AC4-56E6DC4D320D}"/>
              </a:ext>
            </a:extLst>
          </p:cNvPr>
          <p:cNvSpPr txBox="1"/>
          <p:nvPr/>
        </p:nvSpPr>
        <p:spPr>
          <a:xfrm>
            <a:off x="9710118" y="4401150"/>
            <a:ext cx="12171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여러 정보를</a:t>
            </a:r>
            <a:endParaRPr lang="en-US" altLang="ko-KR" sz="11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기반으로</a:t>
            </a:r>
            <a:endParaRPr lang="en-US" altLang="ko-KR" sz="11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1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 작성</a:t>
            </a:r>
          </a:p>
        </p:txBody>
      </p:sp>
    </p:spTree>
    <p:extLst>
      <p:ext uri="{BB962C8B-B14F-4D97-AF65-F5344CB8AC3E}">
        <p14:creationId xmlns:p14="http://schemas.microsoft.com/office/powerpoint/2010/main" val="10828082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2EEE4-79A2-3D60-7280-F01ACD08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17CEB-FB8A-2A7C-34D0-692C18FE3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멀티 </a:t>
            </a:r>
            <a:r>
              <a:rPr lang="en-US" altLang="ko-KR" dirty="0"/>
              <a:t>Agent (Subagent)</a:t>
            </a:r>
            <a:r>
              <a:rPr lang="ko-KR" altLang="en-US" dirty="0"/>
              <a:t>가 단일 </a:t>
            </a:r>
            <a:r>
              <a:rPr lang="en-US" altLang="ko-KR" dirty="0"/>
              <a:t>Agent</a:t>
            </a:r>
            <a:r>
              <a:rPr lang="ko-KR" altLang="en-US" dirty="0"/>
              <a:t>보다 결과물 품질이 좋은 이유</a:t>
            </a:r>
            <a:r>
              <a:rPr lang="en-US" altLang="ko-KR" dirty="0"/>
              <a:t>?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8B784D-B532-C7A4-5711-B0731FB764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3405" y="1095286"/>
            <a:ext cx="11039475" cy="2710486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단일 </a:t>
            </a:r>
            <a:r>
              <a:rPr lang="en-US" altLang="ko-KR" dirty="0"/>
              <a:t>Agent</a:t>
            </a:r>
          </a:p>
          <a:p>
            <a:pPr lvl="1"/>
            <a:r>
              <a:rPr lang="en-US" altLang="ko-KR" sz="1800" dirty="0"/>
              <a:t>Context Window</a:t>
            </a:r>
            <a:r>
              <a:rPr lang="ko-KR" altLang="en-US" sz="1800" dirty="0"/>
              <a:t>가 복잡하다</a:t>
            </a:r>
            <a:r>
              <a:rPr lang="en-US" altLang="ko-KR" sz="1800" dirty="0"/>
              <a:t>. </a:t>
            </a:r>
            <a:r>
              <a:rPr lang="ko-KR" altLang="en-US" sz="1800" dirty="0"/>
              <a:t>계획 </a:t>
            </a:r>
            <a:r>
              <a:rPr lang="en-US" altLang="ko-KR" sz="1800" dirty="0"/>
              <a:t>/ </a:t>
            </a:r>
            <a:r>
              <a:rPr lang="ko-KR" altLang="en-US" sz="1800" dirty="0"/>
              <a:t>구현 </a:t>
            </a:r>
            <a:r>
              <a:rPr lang="en-US" altLang="ko-KR" sz="1800" dirty="0"/>
              <a:t>/ </a:t>
            </a:r>
            <a:r>
              <a:rPr lang="ko-KR" altLang="en-US" sz="1800" dirty="0"/>
              <a:t>검증 계획을 모두 가진다</a:t>
            </a:r>
            <a:r>
              <a:rPr lang="en-US" altLang="ko-KR" sz="1800" dirty="0"/>
              <a:t>.</a:t>
            </a:r>
          </a:p>
          <a:p>
            <a:pPr lvl="1"/>
            <a:r>
              <a:rPr lang="ko-KR" altLang="en-US" sz="1800" dirty="0"/>
              <a:t>다양한 요청이 있는 </a:t>
            </a:r>
            <a:r>
              <a:rPr lang="en-US" altLang="ko-KR" sz="1800" dirty="0"/>
              <a:t>Context Window</a:t>
            </a:r>
            <a:r>
              <a:rPr lang="ko-KR" altLang="en-US" sz="1800" dirty="0"/>
              <a:t>는 오작동 확률이 높다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멀티 </a:t>
            </a:r>
            <a:r>
              <a:rPr lang="en-US" altLang="ko-KR" dirty="0"/>
              <a:t>Agent</a:t>
            </a:r>
          </a:p>
          <a:p>
            <a:pPr lvl="1"/>
            <a:r>
              <a:rPr lang="ko-KR" altLang="en-US" sz="1800" dirty="0"/>
              <a:t>독립적인 </a:t>
            </a:r>
            <a:r>
              <a:rPr lang="en-US" altLang="ko-KR" sz="1800" dirty="0"/>
              <a:t>Context Window</a:t>
            </a:r>
            <a:r>
              <a:rPr lang="ko-KR" altLang="en-US" sz="1800" dirty="0"/>
              <a:t>를 갖고</a:t>
            </a:r>
            <a:r>
              <a:rPr lang="en-US" altLang="ko-KR" sz="1800" dirty="0"/>
              <a:t>, </a:t>
            </a:r>
            <a:r>
              <a:rPr lang="ko-KR" altLang="en-US" sz="1800" dirty="0"/>
              <a:t>일관된 내용으로 구성되어 판단의 정확도가 올라간다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b="1" dirty="0">
                <a:solidFill>
                  <a:srgbClr val="FF0000"/>
                </a:solidFill>
              </a:rPr>
              <a:t>Context Window </a:t>
            </a:r>
            <a:r>
              <a:rPr lang="ko-KR" altLang="en-US" sz="1800" b="1" dirty="0">
                <a:solidFill>
                  <a:srgbClr val="FF0000"/>
                </a:solidFill>
              </a:rPr>
              <a:t>분리 전략을 갖게 됨</a:t>
            </a:r>
          </a:p>
        </p:txBody>
      </p:sp>
      <p:pic>
        <p:nvPicPr>
          <p:cNvPr id="5" name="그래픽 4" descr="남자 옆모습 단색으로 채워진">
            <a:extLst>
              <a:ext uri="{FF2B5EF4-FFF2-40B4-BE49-F238E27FC236}">
                <a16:creationId xmlns:a16="http://schemas.microsoft.com/office/drawing/2014/main" id="{224B2988-54B2-2C86-A525-3CC277A2E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075" y="3989399"/>
            <a:ext cx="2353734" cy="2353734"/>
          </a:xfrm>
          <a:prstGeom prst="rect">
            <a:avLst/>
          </a:prstGeom>
        </p:spPr>
      </p:pic>
      <p:pic>
        <p:nvPicPr>
          <p:cNvPr id="7" name="그래픽 6" descr="사용자 단색으로 채워진">
            <a:extLst>
              <a:ext uri="{FF2B5EF4-FFF2-40B4-BE49-F238E27FC236}">
                <a16:creationId xmlns:a16="http://schemas.microsoft.com/office/drawing/2014/main" id="{415F8AB2-E296-7882-4D11-B882421C60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83344" y="3429000"/>
            <a:ext cx="2974200" cy="2974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9716AC-C2D4-E2BD-41A8-7DA226C2B972}"/>
              </a:ext>
            </a:extLst>
          </p:cNvPr>
          <p:cNvSpPr txBox="1"/>
          <p:nvPr/>
        </p:nvSpPr>
        <p:spPr>
          <a:xfrm>
            <a:off x="1612527" y="6167180"/>
            <a:ext cx="4148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단일 </a:t>
            </a:r>
            <a:r>
              <a:rPr lang="en-US" altLang="ko-KR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endParaRPr lang="ko-KR" altLang="en-US" sz="24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305BBE-1FE1-984C-C47E-A47D637D248B}"/>
              </a:ext>
            </a:extLst>
          </p:cNvPr>
          <p:cNvSpPr txBox="1"/>
          <p:nvPr/>
        </p:nvSpPr>
        <p:spPr>
          <a:xfrm>
            <a:off x="8837555" y="5895200"/>
            <a:ext cx="1919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멀티 </a:t>
            </a:r>
            <a:r>
              <a:rPr lang="en-US" altLang="ko-KR" sz="2400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endParaRPr lang="ko-KR" altLang="en-US" sz="2400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5A213-E0A1-504E-E335-A8D7920726C2}"/>
              </a:ext>
            </a:extLst>
          </p:cNvPr>
          <p:cNvSpPr txBox="1"/>
          <p:nvPr/>
        </p:nvSpPr>
        <p:spPr>
          <a:xfrm>
            <a:off x="2798661" y="4615550"/>
            <a:ext cx="3699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1. 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대화 의도파악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2. 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사건 상황 파악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3. 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 작성</a:t>
            </a:r>
            <a:endParaRPr lang="en-US" altLang="ko-KR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4. </a:t>
            </a:r>
            <a:r>
              <a:rPr lang="ko-KR" altLang="en-US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검증 및 수정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DE8F9F-15D1-7031-1107-3C23C7E49068}"/>
              </a:ext>
            </a:extLst>
          </p:cNvPr>
          <p:cNvSpPr txBox="1"/>
          <p:nvPr/>
        </p:nvSpPr>
        <p:spPr>
          <a:xfrm>
            <a:off x="8756242" y="5248363"/>
            <a:ext cx="1820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상황파악</a:t>
            </a:r>
            <a:endParaRPr lang="en-US" altLang="ko-KR" sz="1400" b="1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4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전문가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D98A38-378D-FF3B-F829-4669862C39B0}"/>
              </a:ext>
            </a:extLst>
          </p:cNvPr>
          <p:cNvSpPr txBox="1"/>
          <p:nvPr/>
        </p:nvSpPr>
        <p:spPr>
          <a:xfrm>
            <a:off x="7977217" y="4801413"/>
            <a:ext cx="1820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의도파악</a:t>
            </a:r>
            <a:endParaRPr lang="en-US" altLang="ko-KR" sz="1400" b="1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4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전문가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159419-37D4-B34B-17B3-859D1C7107F1}"/>
              </a:ext>
            </a:extLst>
          </p:cNvPr>
          <p:cNvSpPr txBox="1"/>
          <p:nvPr/>
        </p:nvSpPr>
        <p:spPr>
          <a:xfrm>
            <a:off x="9771592" y="4768107"/>
            <a:ext cx="1820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</a:t>
            </a:r>
            <a:endParaRPr lang="en-US" altLang="ko-KR" sz="1400" b="1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4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전문가</a:t>
            </a:r>
          </a:p>
        </p:txBody>
      </p:sp>
      <p:pic>
        <p:nvPicPr>
          <p:cNvPr id="18" name="그래픽 17" descr="사용자 단색으로 채워진">
            <a:extLst>
              <a:ext uri="{FF2B5EF4-FFF2-40B4-BE49-F238E27FC236}">
                <a16:creationId xmlns:a16="http://schemas.microsoft.com/office/drawing/2014/main" id="{D04149A0-67D8-537C-82B6-7E0F17895D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13491" y="4549798"/>
            <a:ext cx="1396794" cy="1396794"/>
          </a:xfrm>
          <a:prstGeom prst="rect">
            <a:avLst/>
          </a:prstGeom>
        </p:spPr>
      </p:pic>
      <p:pic>
        <p:nvPicPr>
          <p:cNvPr id="20" name="그래픽 19" descr="콜 센터 단색으로 채워진">
            <a:extLst>
              <a:ext uri="{FF2B5EF4-FFF2-40B4-BE49-F238E27FC236}">
                <a16:creationId xmlns:a16="http://schemas.microsoft.com/office/drawing/2014/main" id="{10C72264-0E49-2B72-7A9D-FD80C44468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73972" y="4033331"/>
            <a:ext cx="1913261" cy="191326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924AC47-D509-CE32-3116-D0C83840C8E4}"/>
              </a:ext>
            </a:extLst>
          </p:cNvPr>
          <p:cNvSpPr txBox="1"/>
          <p:nvPr/>
        </p:nvSpPr>
        <p:spPr>
          <a:xfrm>
            <a:off x="10417963" y="5433985"/>
            <a:ext cx="1820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글정돈</a:t>
            </a:r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전문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0E786E-FDE8-6FD5-700F-3C7900D7842C}"/>
              </a:ext>
            </a:extLst>
          </p:cNvPr>
          <p:cNvSpPr txBox="1"/>
          <p:nvPr/>
        </p:nvSpPr>
        <p:spPr>
          <a:xfrm>
            <a:off x="5943776" y="5291327"/>
            <a:ext cx="1913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총 감독</a:t>
            </a:r>
            <a:endParaRPr lang="en-US" altLang="ko-KR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828D08A-AB0B-6BC6-FEAF-4B100E767EFC}"/>
              </a:ext>
            </a:extLst>
          </p:cNvPr>
          <p:cNvCxnSpPr>
            <a:cxnSpLocks/>
          </p:cNvCxnSpPr>
          <p:nvPr/>
        </p:nvCxnSpPr>
        <p:spPr>
          <a:xfrm>
            <a:off x="5750671" y="3989399"/>
            <a:ext cx="0" cy="2521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7901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9316A-A152-D377-F036-6AC74F20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Subagent </a:t>
            </a:r>
            <a:r>
              <a:rPr lang="ko-KR" altLang="en-US" dirty="0"/>
              <a:t>역할 정리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E14C1-41FB-5A76-EE65-E47D9ABB22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95923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회의록 원본 기반으로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아래와 같은 프로세스를 통해 </a:t>
            </a:r>
            <a:r>
              <a:rPr lang="en-US" altLang="ko-KR" dirty="0"/>
              <a:t>“</a:t>
            </a:r>
            <a:r>
              <a:rPr lang="ko-KR" altLang="en-US" dirty="0"/>
              <a:t>회의록</a:t>
            </a:r>
            <a:r>
              <a:rPr lang="en-US" altLang="ko-KR" dirty="0"/>
              <a:t>(</a:t>
            </a:r>
            <a:r>
              <a:rPr lang="ko-KR" altLang="en-US" dirty="0"/>
              <a:t>최종</a:t>
            </a:r>
            <a:r>
              <a:rPr lang="en-US" altLang="ko-KR" dirty="0"/>
              <a:t>).md”</a:t>
            </a:r>
            <a:r>
              <a:rPr lang="ko-KR" altLang="en-US" dirty="0"/>
              <a:t>를 만든다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DD1DA0-4410-2E61-C805-53C146CD083E}"/>
              </a:ext>
            </a:extLst>
          </p:cNvPr>
          <p:cNvSpPr txBox="1"/>
          <p:nvPr/>
        </p:nvSpPr>
        <p:spPr>
          <a:xfrm>
            <a:off x="7596552" y="4973580"/>
            <a:ext cx="1820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이해하기 쉽게</a:t>
            </a:r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글 교정</a:t>
            </a:r>
          </a:p>
        </p:txBody>
      </p:sp>
      <p:pic>
        <p:nvPicPr>
          <p:cNvPr id="5" name="그래픽 4" descr="사용자 단색으로 채워진">
            <a:extLst>
              <a:ext uri="{FF2B5EF4-FFF2-40B4-BE49-F238E27FC236}">
                <a16:creationId xmlns:a16="http://schemas.microsoft.com/office/drawing/2014/main" id="{88377897-C7CD-1473-0D4D-2EA05D7B0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2375" y="3700262"/>
            <a:ext cx="1396794" cy="1396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97BC6F-C407-71EC-F9B4-627B109DDB8A}"/>
              </a:ext>
            </a:extLst>
          </p:cNvPr>
          <p:cNvSpPr txBox="1"/>
          <p:nvPr/>
        </p:nvSpPr>
        <p:spPr>
          <a:xfrm>
            <a:off x="8022170" y="4584449"/>
            <a:ext cx="1820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글 정돈 전문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E6975A-DB4C-EF00-4280-643E4994B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75" y="3662684"/>
            <a:ext cx="2091160" cy="13816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496186-DF03-A990-5585-444959597FA9}"/>
              </a:ext>
            </a:extLst>
          </p:cNvPr>
          <p:cNvSpPr txBox="1"/>
          <p:nvPr/>
        </p:nvSpPr>
        <p:spPr>
          <a:xfrm>
            <a:off x="3723406" y="3628346"/>
            <a:ext cx="1820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대화의 의도를</a:t>
            </a:r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파악하는 역할</a:t>
            </a:r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9" name="그래픽 8" descr="사용자 단색으로 채워진">
            <a:extLst>
              <a:ext uri="{FF2B5EF4-FFF2-40B4-BE49-F238E27FC236}">
                <a16:creationId xmlns:a16="http://schemas.microsoft.com/office/drawing/2014/main" id="{F622932A-4970-BAA2-F550-AE497D1B3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9900" y="2423912"/>
            <a:ext cx="1396794" cy="13967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DEA78F-E509-BAB9-4E3A-78C6B087E6A5}"/>
              </a:ext>
            </a:extLst>
          </p:cNvPr>
          <p:cNvSpPr txBox="1"/>
          <p:nvPr/>
        </p:nvSpPr>
        <p:spPr>
          <a:xfrm>
            <a:off x="3977509" y="3186226"/>
            <a:ext cx="1820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의도파악</a:t>
            </a:r>
            <a:endParaRPr lang="en-US" altLang="ko-KR" sz="1200" b="1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전문가</a:t>
            </a:r>
          </a:p>
        </p:txBody>
      </p:sp>
      <p:pic>
        <p:nvPicPr>
          <p:cNvPr id="12" name="그래픽 11" descr="사용자 단색으로 채워진">
            <a:extLst>
              <a:ext uri="{FF2B5EF4-FFF2-40B4-BE49-F238E27FC236}">
                <a16:creationId xmlns:a16="http://schemas.microsoft.com/office/drawing/2014/main" id="{793B5DBC-08C3-49A2-B451-116E3CC63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5977" y="4664179"/>
            <a:ext cx="1396794" cy="13967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B5F4A32-E4E8-BA80-3EAE-48ABB100057A}"/>
              </a:ext>
            </a:extLst>
          </p:cNvPr>
          <p:cNvSpPr txBox="1"/>
          <p:nvPr/>
        </p:nvSpPr>
        <p:spPr>
          <a:xfrm>
            <a:off x="3926338" y="5409867"/>
            <a:ext cx="1820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상황파악</a:t>
            </a:r>
            <a:endParaRPr lang="en-US" altLang="ko-KR" sz="1200" b="1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전문가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F8D4D7-95A1-5995-CF1B-3810894EAA7A}"/>
              </a:ext>
            </a:extLst>
          </p:cNvPr>
          <p:cNvSpPr txBox="1"/>
          <p:nvPr/>
        </p:nvSpPr>
        <p:spPr>
          <a:xfrm>
            <a:off x="5707066" y="4973580"/>
            <a:ext cx="1820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 요약</a:t>
            </a:r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초안작성</a:t>
            </a:r>
          </a:p>
        </p:txBody>
      </p:sp>
      <p:pic>
        <p:nvPicPr>
          <p:cNvPr id="16" name="그래픽 15" descr="사용자 단색으로 채워진">
            <a:extLst>
              <a:ext uri="{FF2B5EF4-FFF2-40B4-BE49-F238E27FC236}">
                <a16:creationId xmlns:a16="http://schemas.microsoft.com/office/drawing/2014/main" id="{B7131D57-1477-BE81-B78A-3F9724D7C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5917" y="3700262"/>
            <a:ext cx="1396794" cy="139679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5D978A-7E0D-1546-9A6E-278B82C590F4}"/>
              </a:ext>
            </a:extLst>
          </p:cNvPr>
          <p:cNvSpPr txBox="1"/>
          <p:nvPr/>
        </p:nvSpPr>
        <p:spPr>
          <a:xfrm>
            <a:off x="6306601" y="4446315"/>
            <a:ext cx="1820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</a:t>
            </a:r>
            <a:endParaRPr lang="en-US" altLang="ko-KR" sz="1200" b="1" dirty="0">
              <a:solidFill>
                <a:schemeClr val="bg1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200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전문가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3BF6C0-B5F6-F26D-F3C3-7BCD2B4167A8}"/>
              </a:ext>
            </a:extLst>
          </p:cNvPr>
          <p:cNvSpPr txBox="1"/>
          <p:nvPr/>
        </p:nvSpPr>
        <p:spPr>
          <a:xfrm>
            <a:off x="3585977" y="5894084"/>
            <a:ext cx="1820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객관적 사실관계만</a:t>
            </a:r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파악하는 역할</a:t>
            </a:r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3F8BD902-2BB6-5A42-9B40-C79DCACB69BC}"/>
              </a:ext>
            </a:extLst>
          </p:cNvPr>
          <p:cNvSpPr/>
          <p:nvPr/>
        </p:nvSpPr>
        <p:spPr>
          <a:xfrm rot="19800000">
            <a:off x="2841878" y="3405188"/>
            <a:ext cx="730036" cy="424576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00AEAE48-EC40-ADDD-2B48-6B7A9419D021}"/>
              </a:ext>
            </a:extLst>
          </p:cNvPr>
          <p:cNvSpPr/>
          <p:nvPr/>
        </p:nvSpPr>
        <p:spPr>
          <a:xfrm rot="2700000">
            <a:off x="2827836" y="4669325"/>
            <a:ext cx="730036" cy="424576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00CEC6-4322-E7A4-5681-C1A79E4C1024}"/>
              </a:ext>
            </a:extLst>
          </p:cNvPr>
          <p:cNvSpPr txBox="1"/>
          <p:nvPr/>
        </p:nvSpPr>
        <p:spPr>
          <a:xfrm>
            <a:off x="794123" y="5158773"/>
            <a:ext cx="1820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 원본</a:t>
            </a:r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대화 중심</a:t>
            </a:r>
            <a:r>
              <a:rPr lang="en-US" altLang="ko-KR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</a:t>
            </a: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9C670403-412C-26F3-EA4C-7ABBC130C25F}"/>
              </a:ext>
            </a:extLst>
          </p:cNvPr>
          <p:cNvSpPr/>
          <p:nvPr/>
        </p:nvSpPr>
        <p:spPr>
          <a:xfrm rot="2700000">
            <a:off x="5218186" y="3339581"/>
            <a:ext cx="730036" cy="424576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19067906-8A0E-B093-CB1B-904E73FFD6E4}"/>
              </a:ext>
            </a:extLst>
          </p:cNvPr>
          <p:cNvSpPr/>
          <p:nvPr/>
        </p:nvSpPr>
        <p:spPr>
          <a:xfrm rot="19800000">
            <a:off x="5027932" y="4893276"/>
            <a:ext cx="730036" cy="424576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1B67FA8A-DC38-E9C1-AF5E-9697BA809FBE}"/>
              </a:ext>
            </a:extLst>
          </p:cNvPr>
          <p:cNvSpPr/>
          <p:nvPr/>
        </p:nvSpPr>
        <p:spPr>
          <a:xfrm>
            <a:off x="7296671" y="4201361"/>
            <a:ext cx="505704" cy="424576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D95C7B45-F42D-AF82-15BE-E2FCFF16E005}"/>
              </a:ext>
            </a:extLst>
          </p:cNvPr>
          <p:cNvSpPr/>
          <p:nvPr/>
        </p:nvSpPr>
        <p:spPr>
          <a:xfrm>
            <a:off x="9167252" y="4201361"/>
            <a:ext cx="536379" cy="424576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245ECE0-08EF-BB21-3BC5-B0E07392C2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as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04572" y="3715358"/>
            <a:ext cx="1931719" cy="1276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6B32BC6-7CF9-F564-932C-6185A814AD04}"/>
              </a:ext>
            </a:extLst>
          </p:cNvPr>
          <p:cNvSpPr txBox="1"/>
          <p:nvPr/>
        </p:nvSpPr>
        <p:spPr>
          <a:xfrm>
            <a:off x="10060264" y="5073419"/>
            <a:ext cx="1820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정리된 회의록</a:t>
            </a:r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sz="1400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요약본</a:t>
            </a:r>
            <a:endParaRPr lang="en-US" altLang="ko-KR" sz="1400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51417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57D56-2447-8090-D242-6FBF55A6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CCA9BE-0B34-E44F-1E8B-CECED587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</a:t>
            </a:r>
            <a:r>
              <a:rPr lang="ko-KR" altLang="en-US"/>
              <a:t>개의 </a:t>
            </a:r>
            <a:r>
              <a:rPr lang="en-US" altLang="ko-KR"/>
              <a:t>Subagent </a:t>
            </a:r>
            <a:r>
              <a:rPr lang="ko-KR" altLang="en-US"/>
              <a:t>생성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4F35F1-53B4-615A-1022-1869512C08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8. 4</a:t>
            </a:r>
            <a:r>
              <a:rPr lang="ko-KR" altLang="en-US" dirty="0"/>
              <a:t>개의 </a:t>
            </a:r>
            <a:r>
              <a:rPr lang="en-US" altLang="ko-KR" dirty="0"/>
              <a:t>Worker - Subagent </a:t>
            </a:r>
            <a:r>
              <a:rPr lang="ko-KR" altLang="en-US" dirty="0"/>
              <a:t>파일만 만든다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E6F870D-7180-9412-1B83-3C7E43A3C7A6}"/>
              </a:ext>
            </a:extLst>
          </p:cNvPr>
          <p:cNvGrpSpPr/>
          <p:nvPr/>
        </p:nvGrpSpPr>
        <p:grpSpPr>
          <a:xfrm>
            <a:off x="306026" y="2598891"/>
            <a:ext cx="5600228" cy="3124338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F04A556-5CF8-D139-6204-5F04829EA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892EEBF1-1041-EBC2-C5D2-0981D1545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85D0199-51EA-41DD-4616-EB1562663A76}"/>
              </a:ext>
            </a:extLst>
          </p:cNvPr>
          <p:cNvSpPr txBox="1"/>
          <p:nvPr/>
        </p:nvSpPr>
        <p:spPr>
          <a:xfrm>
            <a:off x="1196510" y="3611087"/>
            <a:ext cx="43554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@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회의내용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.md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에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적혀있는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내용을 분석하고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회의록을 만들고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검증하는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팀을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만들꺼야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프로젝트 내부 .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agents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폴더에 4개의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Subagent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만들건데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일단 의도파악전문가, 상황파악전문가, 회의록전문가, 글정돈전문가에 해당되는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md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파일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4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개를 일단 만들어줘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각각 어떤 내용이 들어갈지 내가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말해줄게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44227B-DD75-DCCA-308A-6065D3E5D9E1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C5F1ACF-C0E7-4BC7-1B63-272AABB09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731" y="3043402"/>
            <a:ext cx="4997707" cy="22353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7970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599C-ACD5-C270-B95E-83F682C00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EDF7C-6524-315E-BA89-DEC59C75E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en-US" altLang="ko-KR" dirty="0"/>
              <a:t>Subagent </a:t>
            </a:r>
            <a:r>
              <a:rPr lang="ko-KR" altLang="en-US" dirty="0"/>
              <a:t>생성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260C90-6471-9494-2379-995C37F09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9. </a:t>
            </a:r>
            <a:r>
              <a:rPr lang="ko-KR" altLang="en-US" dirty="0"/>
              <a:t>각 </a:t>
            </a:r>
            <a:r>
              <a:rPr lang="en-US" altLang="ko-KR" dirty="0"/>
              <a:t>Subagent</a:t>
            </a:r>
            <a:r>
              <a:rPr lang="ko-KR" altLang="en-US" dirty="0"/>
              <a:t>가 어떤 행동을 담당해야 하는지 명시해준다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20FCFA-C1D5-EF6B-03BA-FBA4BA0940BC}"/>
              </a:ext>
            </a:extLst>
          </p:cNvPr>
          <p:cNvGrpSpPr/>
          <p:nvPr/>
        </p:nvGrpSpPr>
        <p:grpSpPr>
          <a:xfrm>
            <a:off x="1755969" y="1503764"/>
            <a:ext cx="8809683" cy="4877423"/>
            <a:chOff x="600075" y="2582332"/>
            <a:chExt cx="5517017" cy="3077915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B40BACC-9D19-60D9-541D-75D8F05AB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56E5C25-3EA6-C1F7-9951-1A743B1A2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B8F2DB8-EAEA-34E6-19A5-19F029F2A66B}"/>
              </a:ext>
            </a:extLst>
          </p:cNvPr>
          <p:cNvSpPr txBox="1"/>
          <p:nvPr/>
        </p:nvSpPr>
        <p:spPr>
          <a:xfrm>
            <a:off x="2048598" y="3435869"/>
            <a:ext cx="83475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의도파악전문가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: '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회의내용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.md’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파일을 분석하여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임직원 성격을 다 알고 각 대화의 의도를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파악후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대화에 의도를 추가로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적어둔다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작업이 끝나면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'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회의내용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의도포함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).md'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파일로 저장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상황파악전문가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: '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회의내용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.md'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파일을 분석하여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객관적인 사실 위주로 </a:t>
            </a:r>
            <a:r>
              <a:rPr lang="ko-KR" altLang="en-US" sz="14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어떤일이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일어났는지 정리하여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'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회의내용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사실분석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).md'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파일로 저장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회의록전문가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: '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회의내용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의도포함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).md'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파일과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'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회의내용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사실분석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).md'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 을 종합하여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회의록을 요약을 작성하고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Action Item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은 따로 정리하여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‘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요약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).md'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파일을 생성한다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-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글정돈전문가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: '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요약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).md'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을 이해하기 쉽게 간결하고 명확한 문체로 수정하여 </a:t>
            </a:r>
            <a:endParaRPr lang="en-US" altLang="ko-KR" sz="14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최종 결과물을 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＇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(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최종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).md' </a:t>
            </a:r>
            <a:r>
              <a:rPr lang="ko-KR" altLang="en-US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파일로 저장한다</a:t>
            </a:r>
            <a:r>
              <a:rPr lang="en-US" altLang="ko-KR" sz="1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DECC88-94B7-5691-E545-BD58CB8D81E7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248856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8ED8C-5B5D-111A-8B59-A2B492761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Subagent </a:t>
            </a:r>
            <a:r>
              <a:rPr lang="ko-KR" altLang="en-US" dirty="0"/>
              <a:t>인식시키기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2114C4-8454-2D4E-D0F0-EB9DD67BB4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95923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아직 </a:t>
            </a:r>
            <a:r>
              <a:rPr lang="en-US" altLang="ko-KR" dirty="0"/>
              <a:t>Subagent </a:t>
            </a:r>
            <a:r>
              <a:rPr lang="ko-KR" altLang="en-US" dirty="0"/>
              <a:t>를 인식하지 못했음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Claude Code</a:t>
            </a:r>
            <a:r>
              <a:rPr lang="ko-KR" altLang="en-US" b="1" dirty="0">
                <a:solidFill>
                  <a:srgbClr val="FF0000"/>
                </a:solidFill>
              </a:rPr>
              <a:t>를 껐다가 </a:t>
            </a:r>
            <a:r>
              <a:rPr lang="ko-KR" altLang="en-US" b="1" dirty="0" err="1">
                <a:solidFill>
                  <a:srgbClr val="FF0000"/>
                </a:solidFill>
              </a:rPr>
              <a:t>다시켜야함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F54C072-6561-FD78-911F-911A0E7C4C09}"/>
              </a:ext>
            </a:extLst>
          </p:cNvPr>
          <p:cNvSpPr/>
          <p:nvPr/>
        </p:nvSpPr>
        <p:spPr>
          <a:xfrm>
            <a:off x="1124939" y="3753365"/>
            <a:ext cx="721799" cy="6096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339130-438B-EE1C-DECA-69610A7E046C}"/>
              </a:ext>
            </a:extLst>
          </p:cNvPr>
          <p:cNvSpPr txBox="1"/>
          <p:nvPr/>
        </p:nvSpPr>
        <p:spPr>
          <a:xfrm>
            <a:off x="789339" y="3885648"/>
            <a:ext cx="2531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</a:t>
            </a:r>
          </a:p>
          <a:p>
            <a:r>
              <a:rPr lang="ko-KR" altLang="en-US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재시작 이후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23867B-45EE-A77C-E174-D63C88181C35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C55EBA-F8A5-BD32-6324-615CCB56F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010" y="3291191"/>
            <a:ext cx="4057859" cy="183524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8DB188F-D897-1331-77C6-98DE28E419CD}"/>
              </a:ext>
            </a:extLst>
          </p:cNvPr>
          <p:cNvGrpSpPr/>
          <p:nvPr/>
        </p:nvGrpSpPr>
        <p:grpSpPr>
          <a:xfrm>
            <a:off x="2427512" y="2964029"/>
            <a:ext cx="4369680" cy="2437822"/>
            <a:chOff x="600075" y="2582332"/>
            <a:chExt cx="5517017" cy="3077915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344C49A-8F0D-C740-9636-2E9D298B5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B8E5E865-A736-6D96-B1DE-8EE549F21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AD0EE30-7EC6-FCFD-336A-35E0B89F90F8}"/>
              </a:ext>
            </a:extLst>
          </p:cNvPr>
          <p:cNvSpPr txBox="1"/>
          <p:nvPr/>
        </p:nvSpPr>
        <p:spPr>
          <a:xfrm>
            <a:off x="3376824" y="3962613"/>
            <a:ext cx="29365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Subagent </a:t>
            </a:r>
            <a:r>
              <a:rPr lang="ko-KR" altLang="en-US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이 프로젝트에 어떤 것이 있는지 목록 말해줘</a:t>
            </a:r>
            <a:endParaRPr lang="en-US" altLang="ko-KR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26495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8D27A-B539-4F89-FD26-269825710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Subagent </a:t>
            </a:r>
            <a:r>
              <a:rPr lang="ko-KR" altLang="en-US" dirty="0"/>
              <a:t>작업 시키기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A8444A-1D47-B55E-AF5D-F2B0016576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10. </a:t>
            </a:r>
            <a:r>
              <a:rPr lang="ko-KR" altLang="en-US" dirty="0"/>
              <a:t>각 단계를 순서대로 활용하도록 명시적으로 호출 하는 프롬프트를 작성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0A0D91C-16EF-E626-7179-411D0162241B}"/>
              </a:ext>
            </a:extLst>
          </p:cNvPr>
          <p:cNvGrpSpPr/>
          <p:nvPr/>
        </p:nvGrpSpPr>
        <p:grpSpPr>
          <a:xfrm>
            <a:off x="1886535" y="2466430"/>
            <a:ext cx="5402228" cy="3013874"/>
            <a:chOff x="600075" y="2582332"/>
            <a:chExt cx="5517017" cy="307791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D13D642-7E05-6498-D09D-92D1B4D98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CA3CF40-00D3-511C-801F-E6FA7C65A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pic>
        <p:nvPicPr>
          <p:cNvPr id="14" name="그래픽 13" descr="콜 센터 단색으로 채워진">
            <a:extLst>
              <a:ext uri="{FF2B5EF4-FFF2-40B4-BE49-F238E27FC236}">
                <a16:creationId xmlns:a16="http://schemas.microsoft.com/office/drawing/2014/main" id="{008D957A-961E-8FC3-F944-33656CCF5B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653" y="3651489"/>
            <a:ext cx="1913261" cy="19132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C70511-BB3F-14EE-114E-B1DB7F5C85D8}"/>
              </a:ext>
            </a:extLst>
          </p:cNvPr>
          <p:cNvSpPr txBox="1"/>
          <p:nvPr/>
        </p:nvSpPr>
        <p:spPr>
          <a:xfrm>
            <a:off x="743974" y="4968529"/>
            <a:ext cx="1913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총 감독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B71298-9A94-B3DA-43C2-8768B7B5622B}"/>
              </a:ext>
            </a:extLst>
          </p:cNvPr>
          <p:cNvSpPr txBox="1"/>
          <p:nvPr/>
        </p:nvSpPr>
        <p:spPr>
          <a:xfrm>
            <a:off x="2850517" y="3586129"/>
            <a:ext cx="426647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회의록요약과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Action Item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을 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작성할꺼야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Subagent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를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아래 순서대로 호출해줘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</a:p>
          <a:p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1.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상황파악전문가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의도파악전문가 동시실행</a:t>
            </a:r>
          </a:p>
          <a:p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2.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회의록전문가 실행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3.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글정돈전문가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D6CA2-2A64-031C-6DF3-64F4421D5BA8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3B11798-89B1-26B6-4B79-D52D77BFC9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8677" y="2986084"/>
            <a:ext cx="4137558" cy="20860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19664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9242-BEA6-28EC-7A86-8583B2C5D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02CAF2A-BAB9-0460-7F1F-4A106CB3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1A22A0D-77C5-C6FF-501D-99A9E06D40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</a:rPr>
              <a:t>Chapter 05</a:t>
            </a:r>
            <a:endParaRPr lang="ko-KR" altLang="en-US" spc="-1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6D263E-F5EC-8A1C-BEE8-2ECFD896D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Claude Code </a:t>
            </a:r>
            <a:r>
              <a:rPr lang="ko-KR" altLang="en-US" dirty="0"/>
              <a:t>기본</a:t>
            </a:r>
          </a:p>
        </p:txBody>
      </p:sp>
    </p:spTree>
    <p:extLst>
      <p:ext uri="{BB962C8B-B14F-4D97-AF65-F5344CB8AC3E}">
        <p14:creationId xmlns:p14="http://schemas.microsoft.com/office/powerpoint/2010/main" val="10845434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A9AE1-A9CE-445B-81CD-D99632D33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779330-302B-7F41-1E30-6300F2B90D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263661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 err="1"/>
              <a:t>클로드</a:t>
            </a:r>
            <a:r>
              <a:rPr lang="ko-KR" altLang="en-US" dirty="0"/>
              <a:t> 코드가 할 수 있는 기능을 추가해주는 것을 </a:t>
            </a:r>
            <a:r>
              <a:rPr lang="en-US" altLang="ko-KR" dirty="0"/>
              <a:t>Skill </a:t>
            </a:r>
            <a:r>
              <a:rPr lang="ko-KR" altLang="en-US" dirty="0"/>
              <a:t>이라고 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Skill은</a:t>
            </a:r>
            <a:r>
              <a:rPr lang="ko-KR" altLang="en-US" dirty="0"/>
              <a:t> 다음과 같은 것이 될 수 있음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자주 반복되는 </a:t>
            </a:r>
            <a:r>
              <a:rPr lang="ko-KR" altLang="en-US" b="1" dirty="0">
                <a:solidFill>
                  <a:srgbClr val="FF0000"/>
                </a:solidFill>
              </a:rPr>
              <a:t>프롬프트</a:t>
            </a:r>
            <a:r>
              <a:rPr lang="ko-KR" altLang="en-US" dirty="0"/>
              <a:t>를 하나의 </a:t>
            </a:r>
            <a:r>
              <a:rPr lang="en-US" altLang="ko-KR" dirty="0"/>
              <a:t>"</a:t>
            </a:r>
            <a:r>
              <a:rPr lang="ko-KR" altLang="en-US" b="1" dirty="0"/>
              <a:t>명령</a:t>
            </a:r>
            <a:r>
              <a:rPr lang="en-US" altLang="ko-KR" b="1" dirty="0"/>
              <a:t>(Skill)</a:t>
            </a:r>
            <a:r>
              <a:rPr lang="en-US" altLang="ko-KR" dirty="0"/>
              <a:t>"</a:t>
            </a:r>
            <a:r>
              <a:rPr lang="ko-KR" altLang="en-US" dirty="0"/>
              <a:t> 으로 만든다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파일 편집</a:t>
            </a:r>
            <a:r>
              <a:rPr lang="en-US" altLang="ko-KR" dirty="0"/>
              <a:t> / </a:t>
            </a:r>
            <a:r>
              <a:rPr lang="ko-KR" altLang="en-US" dirty="0"/>
              <a:t>명령어 실행</a:t>
            </a:r>
            <a:r>
              <a:rPr lang="en-US" altLang="ko-KR" dirty="0"/>
              <a:t> / </a:t>
            </a:r>
            <a:r>
              <a:rPr lang="ko-KR" altLang="en-US" dirty="0"/>
              <a:t>인터넷 검색 같은 </a:t>
            </a:r>
            <a:r>
              <a:rPr lang="en-US" altLang="ko-KR" b="1" dirty="0">
                <a:solidFill>
                  <a:srgbClr val="FF0000"/>
                </a:solidFill>
              </a:rPr>
              <a:t>Tool</a:t>
            </a:r>
            <a:r>
              <a:rPr lang="ko-KR" altLang="en-US" dirty="0"/>
              <a:t>을 사용하는 </a:t>
            </a:r>
            <a:r>
              <a:rPr lang="en-US" altLang="ko-KR" dirty="0"/>
              <a:t>"</a:t>
            </a:r>
            <a:r>
              <a:rPr lang="ko-KR" altLang="en-US" b="1" dirty="0"/>
              <a:t>명령</a:t>
            </a:r>
            <a:r>
              <a:rPr lang="en-US" altLang="ko-KR" b="1" dirty="0"/>
              <a:t>(Skill)</a:t>
            </a:r>
            <a:r>
              <a:rPr lang="en-US" altLang="ko-KR" dirty="0"/>
              <a:t>"</a:t>
            </a:r>
            <a:r>
              <a:rPr lang="ko-KR" altLang="en-US" dirty="0"/>
              <a:t>으로 만든다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224437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23C31-49B8-478D-3985-BFE3CB357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F115FC-E896-B736-F504-B632C97C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 </a:t>
            </a:r>
            <a:r>
              <a:rPr lang="ko-KR" altLang="en-US" dirty="0" err="1"/>
              <a:t>만들어보기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19D31C-E60A-0FB0-3B8C-3A0FBB92E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11. </a:t>
            </a:r>
            <a:r>
              <a:rPr lang="ko-KR" altLang="en-US" dirty="0"/>
              <a:t>프롬프트를 재사용할 수 있는 </a:t>
            </a:r>
            <a:r>
              <a:rPr lang="en-US" altLang="ko-KR" dirty="0"/>
              <a:t>Skill </a:t>
            </a:r>
            <a:r>
              <a:rPr lang="ko-KR" altLang="en-US" dirty="0"/>
              <a:t>만들기</a:t>
            </a:r>
            <a:endParaRPr lang="en-US" altLang="ko-KR" dirty="0"/>
          </a:p>
          <a:p>
            <a:pPr lvl="1"/>
            <a:r>
              <a:rPr lang="ko-KR" altLang="en-US" dirty="0"/>
              <a:t>자주 사용되는 프롬프트를 하나의 명령(</a:t>
            </a:r>
            <a:r>
              <a:rPr lang="ko-KR" altLang="en-US" dirty="0" err="1"/>
              <a:t>Skill</a:t>
            </a:r>
            <a:r>
              <a:rPr lang="ko-KR" altLang="en-US" dirty="0"/>
              <a:t>)</a:t>
            </a:r>
            <a:r>
              <a:rPr lang="ko-KR" altLang="en-US" dirty="0" err="1"/>
              <a:t>으로</a:t>
            </a:r>
            <a:r>
              <a:rPr lang="ko-KR" altLang="en-US" dirty="0"/>
              <a:t> 만들어 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F5B83B0-9CB3-A6FC-5B40-252D1949E100}"/>
              </a:ext>
            </a:extLst>
          </p:cNvPr>
          <p:cNvGrpSpPr/>
          <p:nvPr/>
        </p:nvGrpSpPr>
        <p:grpSpPr>
          <a:xfrm>
            <a:off x="1042527" y="2535993"/>
            <a:ext cx="5499950" cy="3068393"/>
            <a:chOff x="600075" y="2582332"/>
            <a:chExt cx="5517017" cy="307791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23CC1E6-B69B-CA4F-60D0-272094C25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8702AF8-4A17-3DE2-DF7C-FDC87E8D0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8AAD414-768A-188A-B46B-7D977D50A491}"/>
              </a:ext>
            </a:extLst>
          </p:cNvPr>
          <p:cNvSpPr txBox="1"/>
          <p:nvPr/>
        </p:nvSpPr>
        <p:spPr>
          <a:xfrm>
            <a:off x="2022323" y="3603627"/>
            <a:ext cx="40176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제시어를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주면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</a:t>
            </a:r>
          </a:p>
          <a:p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재미있는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3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행시를 만들어주는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스킬을 현재 프로젝트에서만 사용할 수 있도록 만들어줘 스킬 이름은 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three-line </a:t>
            </a:r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으로 해줘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</a:p>
          <a:p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r>
              <a:rPr lang="en-US" altLang="ko-KR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claude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/skills/{</a:t>
            </a:r>
            <a:r>
              <a:rPr lang="ko-KR" altLang="en-US" sz="1600" b="1" dirty="0" err="1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스킬명</a:t>
            </a:r>
            <a:r>
              <a:rPr lang="en-US" altLang="ko-KR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}/SKILL.md </a:t>
            </a:r>
          </a:p>
          <a:p>
            <a:r>
              <a:rPr lang="ko-KR" altLang="en-US" sz="16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파일에 만들어줘</a:t>
            </a:r>
            <a:endParaRPr lang="en-US" altLang="ko-KR" sz="1600" b="1" dirty="0">
              <a:solidFill>
                <a:srgbClr val="FFC000"/>
              </a:solidFill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69E631-923C-39AC-D132-2469DAC86A10}"/>
              </a:ext>
            </a:extLst>
          </p:cNvPr>
          <p:cNvSpPr/>
          <p:nvPr/>
        </p:nvSpPr>
        <p:spPr>
          <a:xfrm>
            <a:off x="8409585" y="4249720"/>
            <a:ext cx="1540934" cy="6519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C7D8B4F-CFFA-2DFA-B8CF-8463750B2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239" y="2548377"/>
            <a:ext cx="3008903" cy="34026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1415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58010-4B67-FE33-42E0-B4E2639E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 </a:t>
            </a:r>
            <a:r>
              <a:rPr lang="ko-KR" altLang="en-US" dirty="0"/>
              <a:t>인식시키기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1CD64-38D0-298F-BC07-B0F532DC5B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802784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/skills </a:t>
            </a:r>
            <a:r>
              <a:rPr lang="ko-KR" altLang="en-US" dirty="0"/>
              <a:t>명령어로</a:t>
            </a:r>
            <a:r>
              <a:rPr lang="en-US" altLang="ko-KR" dirty="0"/>
              <a:t>, Claude</a:t>
            </a:r>
            <a:r>
              <a:rPr lang="ko-KR" altLang="en-US" dirty="0"/>
              <a:t>가 </a:t>
            </a:r>
            <a:r>
              <a:rPr lang="en-US" altLang="ko-KR" dirty="0"/>
              <a:t>Skill</a:t>
            </a:r>
            <a:r>
              <a:rPr lang="ko-KR" altLang="en-US" dirty="0"/>
              <a:t>을 인식했는지 확인한다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/reload-skills </a:t>
            </a:r>
            <a:r>
              <a:rPr lang="ko-KR" altLang="en-US" dirty="0"/>
              <a:t>또는 </a:t>
            </a:r>
            <a:r>
              <a:rPr lang="ko-KR" altLang="en-US" dirty="0" err="1"/>
              <a:t>클로드</a:t>
            </a:r>
            <a:r>
              <a:rPr lang="ko-KR" altLang="en-US" dirty="0"/>
              <a:t> 재시작을 통해 </a:t>
            </a:r>
            <a:r>
              <a:rPr lang="en-US" altLang="ko-KR" dirty="0"/>
              <a:t>Skill</a:t>
            </a:r>
            <a:r>
              <a:rPr lang="ko-KR" altLang="en-US" dirty="0"/>
              <a:t>이 인식된다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4431524F-66F2-D873-213C-6B5ADB2847D6}"/>
              </a:ext>
            </a:extLst>
          </p:cNvPr>
          <p:cNvSpPr/>
          <p:nvPr/>
        </p:nvSpPr>
        <p:spPr>
          <a:xfrm>
            <a:off x="5380815" y="3556720"/>
            <a:ext cx="721799" cy="609600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76894A-1B5A-3760-576C-FAA95273B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954" y="3042912"/>
            <a:ext cx="2866760" cy="14219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BE39F7E-EC60-6280-3875-A34FDA416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828" y="3042912"/>
            <a:ext cx="4236481" cy="16689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354E9A-D463-DC31-935D-AD4B0227B35B}"/>
              </a:ext>
            </a:extLst>
          </p:cNvPr>
          <p:cNvSpPr/>
          <p:nvPr/>
        </p:nvSpPr>
        <p:spPr>
          <a:xfrm>
            <a:off x="6715691" y="4513036"/>
            <a:ext cx="2202166" cy="3310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42A26E-909F-4174-0FE7-0CB68439090E}"/>
              </a:ext>
            </a:extLst>
          </p:cNvPr>
          <p:cNvSpPr txBox="1"/>
          <p:nvPr/>
        </p:nvSpPr>
        <p:spPr>
          <a:xfrm>
            <a:off x="1263954" y="4549174"/>
            <a:ext cx="2531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/reload-skills</a:t>
            </a:r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로 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스킬을 인식시킨다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A4DF16-FA48-816E-E030-FA9C0E581C3D}"/>
              </a:ext>
            </a:extLst>
          </p:cNvPr>
          <p:cNvSpPr txBox="1"/>
          <p:nvPr/>
        </p:nvSpPr>
        <p:spPr>
          <a:xfrm>
            <a:off x="6455255" y="4980158"/>
            <a:ext cx="42364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/skills</a:t>
            </a:r>
          </a:p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명령어로 스킬이 </a:t>
            </a:r>
            <a:endParaRPr lang="en-US" altLang="ko-KR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  <a:p>
            <a:pPr algn="ctr"/>
            <a:r>
              <a:rPr lang="ko-KR" altLang="en-US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잘 인식되었는지 확인한다</a:t>
            </a:r>
            <a:r>
              <a:rPr lang="en-US" altLang="ko-KR" b="1" dirty="0"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</a:t>
            </a:r>
            <a:endParaRPr lang="ko-KR" altLang="en-US" b="1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8036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AB9F-8BED-1706-8A28-B21CFF48A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7DC04-CC75-5106-CF05-BA8311951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Skill </a:t>
            </a:r>
            <a:r>
              <a:rPr lang="ko-KR" altLang="en-US" dirty="0"/>
              <a:t>사용해보기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86EA55-3165-4EF1-E3C3-7D757C5B62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0075" y="1042100"/>
            <a:ext cx="11039475" cy="46166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12. </a:t>
            </a:r>
            <a:r>
              <a:rPr lang="ko-KR" altLang="en-US" dirty="0"/>
              <a:t>잘 동작되는지 확인한다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755426-F372-C292-201D-C236EBFFDECC}"/>
              </a:ext>
            </a:extLst>
          </p:cNvPr>
          <p:cNvGrpSpPr/>
          <p:nvPr/>
        </p:nvGrpSpPr>
        <p:grpSpPr>
          <a:xfrm>
            <a:off x="765311" y="2928676"/>
            <a:ext cx="4716994" cy="2631586"/>
            <a:chOff x="600075" y="2582332"/>
            <a:chExt cx="5517017" cy="307791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56D91D8-E247-A828-5221-DC6D44F5D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075" y="2582332"/>
              <a:ext cx="5517017" cy="307791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4728BC9-0948-F9A8-90A5-6C3FD8B67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6184" y="2769580"/>
              <a:ext cx="4741918" cy="1912486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785CFF8-F819-BA64-0F73-D9353A60AC39}"/>
              </a:ext>
            </a:extLst>
          </p:cNvPr>
          <p:cNvSpPr txBox="1"/>
          <p:nvPr/>
        </p:nvSpPr>
        <p:spPr>
          <a:xfrm>
            <a:off x="1464667" y="4343442"/>
            <a:ext cx="4017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 </a:t>
            </a:r>
            <a:r>
              <a:rPr lang="en-US" altLang="ko-KR" sz="2400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/three-line</a:t>
            </a:r>
            <a:r>
              <a:rPr lang="ko-KR" altLang="en-US" sz="2400" b="1" dirty="0">
                <a:solidFill>
                  <a:srgbClr val="FF0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 </a:t>
            </a:r>
            <a:r>
              <a:rPr lang="en-US" altLang="ko-KR" sz="2400" b="1" dirty="0">
                <a:solidFill>
                  <a:srgbClr val="FFC000"/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KFC</a:t>
            </a: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DFBC3C7B-95FA-1BB8-C579-4619E8818673}"/>
              </a:ext>
            </a:extLst>
          </p:cNvPr>
          <p:cNvSpPr/>
          <p:nvPr/>
        </p:nvSpPr>
        <p:spPr>
          <a:xfrm>
            <a:off x="6096000" y="3881777"/>
            <a:ext cx="546636" cy="461665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스퀘어OTF_ac" panose="020B0600000101010101" pitchFamily="34" charset="-127"/>
              <a:ea typeface="나눔스퀘어OTF_ac" panose="020B0600000101010101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8206C3D-6FB7-24EF-08C7-730FB3F61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1970" y="3088771"/>
            <a:ext cx="4502381" cy="21908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2FF635-0019-A7F7-1CAE-9B7CCD7BF1BE}"/>
              </a:ext>
            </a:extLst>
          </p:cNvPr>
          <p:cNvSpPr txBox="1"/>
          <p:nvPr/>
        </p:nvSpPr>
        <p:spPr>
          <a:xfrm>
            <a:off x="0" y="6364544"/>
            <a:ext cx="5347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Agent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의 랜덤성으로 인해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실제 실습 결과는 이미지와 다를 수 있습니다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  <a:p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위 실습 예시와 동일하게 동작하지 않을 수 있음을 참고하시기 바랍니다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  <a:latin typeface="나눔스퀘어OTF_ac" panose="020B0600000101010101" pitchFamily="34" charset="-127"/>
                <a:ea typeface="나눔스퀘어OTF_ac" panose="020B0600000101010101" pitchFamily="34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122205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1BA31-9E4C-BEE6-E3DE-6EB4B942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378314"/>
      </p:ext>
    </p:extLst>
  </p:cSld>
  <p:clrMapOvr>
    <a:masterClrMapping/>
  </p:clrMapOvr>
</p:sld>
</file>

<file path=ppt/theme/theme1.xml><?xml version="1.0" encoding="utf-8"?>
<a:theme xmlns:a="http://schemas.openxmlformats.org/drawingml/2006/main" name="민코딩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민코딩테마" id="{6D5A7B03-17CE-4237-98F1-3D27D89D139A}" vid="{88D1DD56-E62D-42AF-AF11-2C83D8065AAF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민코딩테마</Template>
  <TotalTime>402</TotalTime>
  <Words>2537</Words>
  <Application>Microsoft Office PowerPoint</Application>
  <PresentationFormat>와이드스크린</PresentationFormat>
  <Paragraphs>412</Paragraphs>
  <Slides>50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50</vt:i4>
      </vt:variant>
    </vt:vector>
  </HeadingPairs>
  <TitlesOfParts>
    <vt:vector size="58" baseType="lpstr">
      <vt:lpstr>나눔스퀘어OTF_ac</vt:lpstr>
      <vt:lpstr>나눔스퀘어OTF_ac Bold</vt:lpstr>
      <vt:lpstr>나눔스퀘어OTF_ac ExtraBold</vt:lpstr>
      <vt:lpstr>Arial</vt:lpstr>
      <vt:lpstr>Calibri</vt:lpstr>
      <vt:lpstr>Wingdings</vt:lpstr>
      <vt:lpstr>민코딩테마</vt:lpstr>
      <vt:lpstr>디자인 사용자 지정</vt:lpstr>
      <vt:lpstr>Module 2. AI Agent 활용을 위한 기반 다지기,  Claude Code 활용 바이브코딩 기초</vt:lpstr>
      <vt:lpstr>PowerPoint 프레젠테이션</vt:lpstr>
      <vt:lpstr>개발 환경 구축 점검</vt:lpstr>
      <vt:lpstr>수업 실습 환경</vt:lpstr>
      <vt:lpstr>터미널 띄우기</vt:lpstr>
      <vt:lpstr>복사 붙여넣기</vt:lpstr>
      <vt:lpstr>Claude Code 설치를 위한 준비</vt:lpstr>
      <vt:lpstr>(현대 강의장 필수) npm, npx 명령어 동작 테스트</vt:lpstr>
      <vt:lpstr>필요하다면 Python 설치</vt:lpstr>
      <vt:lpstr>Claude Code 첫 메시지</vt:lpstr>
      <vt:lpstr>모델 선택하기</vt:lpstr>
      <vt:lpstr>Reasoning Level 설정</vt:lpstr>
      <vt:lpstr>Permission Mode - Auto로 설정</vt:lpstr>
      <vt:lpstr>동작 테스트</vt:lpstr>
      <vt:lpstr>챕터의 목적</vt:lpstr>
      <vt:lpstr>H Chat vs Claude Code</vt:lpstr>
      <vt:lpstr>목적</vt:lpstr>
      <vt:lpstr>스토리</vt:lpstr>
      <vt:lpstr>실습 환경</vt:lpstr>
      <vt:lpstr>Claude 실행</vt:lpstr>
      <vt:lpstr>모델 선택하기</vt:lpstr>
      <vt:lpstr>Reasoning Level 설정</vt:lpstr>
      <vt:lpstr>Permission Mode - Auto로 설정</vt:lpstr>
      <vt:lpstr>동작 테스트</vt:lpstr>
      <vt:lpstr>CLAUDE.md</vt:lpstr>
      <vt:lpstr>CLAUDE.md</vt:lpstr>
      <vt:lpstr>생성해야 하는 위치</vt:lpstr>
      <vt:lpstr>CLAUDE.md 파일 생성</vt:lpstr>
      <vt:lpstr>CLAUDE.md 기본 내용 작성</vt:lpstr>
      <vt:lpstr>CLAUDE.md 초안 작성 요청</vt:lpstr>
      <vt:lpstr>[참고] CLAUDE.md 되돌리기</vt:lpstr>
      <vt:lpstr>CLAUDE.md 프로젝트 규칙 설정</vt:lpstr>
      <vt:lpstr>CLAUDE.md 파일 생성</vt:lpstr>
      <vt:lpstr>CLAUDE.md 파일 생성</vt:lpstr>
      <vt:lpstr>CLAUDE.md 파일 생성</vt:lpstr>
      <vt:lpstr>Subagent</vt:lpstr>
      <vt:lpstr>사전지식 - Context Window란?</vt:lpstr>
      <vt:lpstr>스토리 작성 계획</vt:lpstr>
      <vt:lpstr>멀티 Agent (Subagent)가 단일 Agent보다 결과물 품질이 좋은 이유?</vt:lpstr>
      <vt:lpstr>Subagent 역할 정리</vt:lpstr>
      <vt:lpstr>4개의 Subagent 생성</vt:lpstr>
      <vt:lpstr>4개의 Subagent 생성</vt:lpstr>
      <vt:lpstr>Subagent 인식시키기</vt:lpstr>
      <vt:lpstr>Subagent 작업 시키기</vt:lpstr>
      <vt:lpstr>Skill</vt:lpstr>
      <vt:lpstr>Skill 이란?</vt:lpstr>
      <vt:lpstr>Skill 만들어보기</vt:lpstr>
      <vt:lpstr>Skill 인식시키기</vt:lpstr>
      <vt:lpstr>Skill 사용해보기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활용을 위한 기반 다지기</dc:title>
  <dc:creator>인호 최</dc:creator>
  <cp:lastModifiedBy>김현복</cp:lastModifiedBy>
  <cp:revision>21</cp:revision>
  <dcterms:created xsi:type="dcterms:W3CDTF">2025-01-10T05:17:06Z</dcterms:created>
  <dcterms:modified xsi:type="dcterms:W3CDTF">2026-09-05T18:38:33Z</dcterms:modified>
</cp:coreProperties>
</file>