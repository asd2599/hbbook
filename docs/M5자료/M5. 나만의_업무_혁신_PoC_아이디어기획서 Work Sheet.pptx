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8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30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0"/>
          <p:cNvSpPr/>
          <p:nvPr/>
        </p:nvSpPr>
        <p:spPr>
          <a:xfrm>
            <a:off x="0" y="0"/>
            <a:ext cx="12192000" cy="733349"/>
          </a:xfrm>
          <a:prstGeom prst="rect">
            <a:avLst/>
          </a:prstGeom>
          <a:solidFill>
            <a:srgbClr val="16419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0" cap="none" spc="-19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  M5. </a:t>
            </a:r>
            <a:r>
              <a:rPr kumimoji="0" lang="en-US" altLang="ko-KR" sz="2400" b="1" i="0" u="none" strike="noStrike" kern="0" cap="none" spc="-19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나만의</a:t>
            </a:r>
            <a:r>
              <a:rPr kumimoji="0" lang="en-US" altLang="ko-KR" sz="2400" b="1" i="0" u="none" strike="noStrike" kern="0" cap="none" spc="-19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 </a:t>
            </a:r>
            <a:r>
              <a:rPr kumimoji="0" lang="en-US" altLang="ko-KR" sz="2400" b="1" i="0" u="none" strike="noStrike" kern="0" cap="none" spc="-19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업무</a:t>
            </a:r>
            <a:r>
              <a:rPr kumimoji="0" lang="en-US" altLang="ko-KR" sz="2400" b="1" i="0" u="none" strike="noStrike" kern="0" cap="none" spc="-19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 </a:t>
            </a:r>
            <a:r>
              <a:rPr kumimoji="0" lang="en-US" altLang="ko-KR" sz="2400" b="1" i="0" u="none" strike="noStrike" kern="0" cap="none" spc="-19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혁신</a:t>
            </a:r>
            <a:r>
              <a:rPr kumimoji="0" lang="en-US" altLang="ko-KR" sz="2400" b="1" i="0" u="none" strike="noStrike" kern="0" cap="none" spc="-19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 </a:t>
            </a:r>
            <a:r>
              <a:rPr kumimoji="0" lang="en-US" altLang="ko-KR" sz="2400" b="1" i="0" u="none" strike="noStrike" kern="0" cap="none" spc="-19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PoC_</a:t>
            </a:r>
            <a:r>
              <a:rPr kumimoji="0" lang="en-US" altLang="ko-KR" b="1" i="0" u="none" strike="noStrike" kern="0" cap="none" spc="-19" normalizeH="0" baseline="0" noProof="0" dirty="0" err="1">
                <a:ln>
                  <a:noFill/>
                </a:ln>
                <a:solidFill>
                  <a:srgbClr val="B9D2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아이디어기획서</a:t>
            </a:r>
            <a:r>
              <a:rPr kumimoji="0" lang="en-US" altLang="ko-KR" b="1" i="0" u="none" strike="noStrike" kern="0" cap="none" spc="-19" normalizeH="0" baseline="0" noProof="0" dirty="0">
                <a:ln>
                  <a:noFill/>
                </a:ln>
                <a:solidFill>
                  <a:srgbClr val="B9D2FF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Variable" pitchFamily="34" charset="-120"/>
              </a:rPr>
              <a:t> Work Sheet</a:t>
            </a:r>
            <a:endParaRPr kumimoji="0" lang="en-US" altLang="ko-KR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6A3D8F03-3545-9D59-5524-2F70EAE0AA63}"/>
              </a:ext>
            </a:extLst>
          </p:cNvPr>
          <p:cNvGrpSpPr/>
          <p:nvPr/>
        </p:nvGrpSpPr>
        <p:grpSpPr>
          <a:xfrm>
            <a:off x="800253" y="913486"/>
            <a:ext cx="10591495" cy="328269"/>
            <a:chOff x="800100" y="913486"/>
            <a:chExt cx="10591495" cy="328269"/>
          </a:xfrm>
        </p:grpSpPr>
        <p:pic>
          <p:nvPicPr>
            <p:cNvPr id="2" name="Image 0" descr="gen-dedup-55bc09d4593cee150e70a57d382afa80.png"/>
            <p:cNvPicPr>
              <a:picLocks noChangeAspect="1"/>
            </p:cNvPicPr>
            <p:nvPr/>
          </p:nvPicPr>
          <p:blipFill>
            <a:blip r:embed="rId3"/>
            <a:srcRect l="-2083" r="-2083"/>
            <a:stretch/>
          </p:blipFill>
          <p:spPr>
            <a:xfrm>
              <a:off x="800100" y="1232611"/>
              <a:ext cx="10591495" cy="9144"/>
            </a:xfrm>
            <a:prstGeom prst="rect">
              <a:avLst/>
            </a:prstGeom>
          </p:spPr>
        </p:pic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73DAE6EA-F963-78A2-15EC-3312C3BA6734}"/>
                </a:ext>
              </a:extLst>
            </p:cNvPr>
            <p:cNvGrpSpPr/>
            <p:nvPr/>
          </p:nvGrpSpPr>
          <p:grpSpPr>
            <a:xfrm>
              <a:off x="800100" y="913486"/>
              <a:ext cx="2753258" cy="280720"/>
              <a:chOff x="800100" y="913486"/>
              <a:chExt cx="2753258" cy="280720"/>
            </a:xfrm>
          </p:grpSpPr>
          <p:sp>
            <p:nvSpPr>
              <p:cNvPr id="26" name="Text 8"/>
              <p:cNvSpPr txBox="1"/>
              <p:nvPr/>
            </p:nvSpPr>
            <p:spPr>
              <a:xfrm>
                <a:off x="800100" y="913486"/>
                <a:ext cx="2753258" cy="1143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ko-KR" altLang="en-US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본부 </a:t>
                </a:r>
                <a:r>
                  <a:rPr lang="en-US" altLang="ko-KR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: 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7" name="Shape 9"/>
              <p:cNvSpPr/>
              <p:nvPr/>
            </p:nvSpPr>
            <p:spPr>
              <a:xfrm>
                <a:off x="800100" y="1185062"/>
                <a:ext cx="2752344" cy="9144"/>
              </a:xfrm>
              <a:prstGeom prst="rect">
                <a:avLst/>
              </a:prstGeom>
              <a:solidFill>
                <a:srgbClr val="1A1A1A"/>
              </a:solidFill>
              <a:ln w="12700">
                <a:solidFill>
                  <a:srgbClr val="1A1A1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40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782CB695-2560-9EA6-FA2B-32CFBD19FACF}"/>
                </a:ext>
              </a:extLst>
            </p:cNvPr>
            <p:cNvGrpSpPr/>
            <p:nvPr/>
          </p:nvGrpSpPr>
          <p:grpSpPr>
            <a:xfrm>
              <a:off x="4343400" y="913486"/>
              <a:ext cx="2753258" cy="280720"/>
              <a:chOff x="4420755" y="913486"/>
              <a:chExt cx="2753258" cy="280720"/>
            </a:xfrm>
          </p:grpSpPr>
          <p:sp>
            <p:nvSpPr>
              <p:cNvPr id="90" name="Text 8">
                <a:extLst>
                  <a:ext uri="{FF2B5EF4-FFF2-40B4-BE49-F238E27FC236}">
                    <a16:creationId xmlns:a16="http://schemas.microsoft.com/office/drawing/2014/main" id="{EDC2A329-0A48-BC1A-8A48-81C221615057}"/>
                  </a:ext>
                </a:extLst>
              </p:cNvPr>
              <p:cNvSpPr txBox="1"/>
              <p:nvPr/>
            </p:nvSpPr>
            <p:spPr>
              <a:xfrm>
                <a:off x="4420755" y="913486"/>
                <a:ext cx="2753258" cy="1143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ko-KR" altLang="en-US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팀 </a:t>
                </a:r>
                <a:r>
                  <a:rPr lang="en-US" altLang="ko-KR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: 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1" name="Shape 9">
                <a:extLst>
                  <a:ext uri="{FF2B5EF4-FFF2-40B4-BE49-F238E27FC236}">
                    <a16:creationId xmlns:a16="http://schemas.microsoft.com/office/drawing/2014/main" id="{BB958766-A899-A1F0-BE57-400E8CFFB773}"/>
                  </a:ext>
                </a:extLst>
              </p:cNvPr>
              <p:cNvSpPr/>
              <p:nvPr/>
            </p:nvSpPr>
            <p:spPr>
              <a:xfrm>
                <a:off x="4420755" y="1185062"/>
                <a:ext cx="2752344" cy="9144"/>
              </a:xfrm>
              <a:prstGeom prst="rect">
                <a:avLst/>
              </a:prstGeom>
              <a:solidFill>
                <a:srgbClr val="1A1A1A"/>
              </a:solidFill>
              <a:ln w="12700">
                <a:solidFill>
                  <a:srgbClr val="1A1A1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40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3B69F5DA-E43B-F3C2-C2C8-56A38B06A90C}"/>
                </a:ext>
              </a:extLst>
            </p:cNvPr>
            <p:cNvGrpSpPr/>
            <p:nvPr/>
          </p:nvGrpSpPr>
          <p:grpSpPr>
            <a:xfrm>
              <a:off x="7886700" y="913486"/>
              <a:ext cx="2753258" cy="280720"/>
              <a:chOff x="7886700" y="913486"/>
              <a:chExt cx="2753258" cy="280720"/>
            </a:xfrm>
          </p:grpSpPr>
          <p:sp>
            <p:nvSpPr>
              <p:cNvPr id="92" name="Text 8">
                <a:extLst>
                  <a:ext uri="{FF2B5EF4-FFF2-40B4-BE49-F238E27FC236}">
                    <a16:creationId xmlns:a16="http://schemas.microsoft.com/office/drawing/2014/main" id="{DE21AEE3-8D95-5A36-8AAD-C769A26AFEBF}"/>
                  </a:ext>
                </a:extLst>
              </p:cNvPr>
              <p:cNvSpPr txBox="1"/>
              <p:nvPr/>
            </p:nvSpPr>
            <p:spPr>
              <a:xfrm>
                <a:off x="7886700" y="913486"/>
                <a:ext cx="2753258" cy="114300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ko-KR" altLang="en-US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이름 </a:t>
                </a:r>
                <a:r>
                  <a:rPr lang="en-US" altLang="ko-KR" sz="1400" b="1" kern="0" spc="165" dirty="0">
                    <a:solidFill>
                      <a:srgbClr val="164194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: 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3" name="Shape 9">
                <a:extLst>
                  <a:ext uri="{FF2B5EF4-FFF2-40B4-BE49-F238E27FC236}">
                    <a16:creationId xmlns:a16="http://schemas.microsoft.com/office/drawing/2014/main" id="{9721148A-0B29-DBAB-177B-8842F2F55E47}"/>
                  </a:ext>
                </a:extLst>
              </p:cNvPr>
              <p:cNvSpPr/>
              <p:nvPr/>
            </p:nvSpPr>
            <p:spPr>
              <a:xfrm>
                <a:off x="7886700" y="1185062"/>
                <a:ext cx="2752344" cy="9144"/>
              </a:xfrm>
              <a:prstGeom prst="rect">
                <a:avLst/>
              </a:prstGeom>
              <a:solidFill>
                <a:srgbClr val="1A1A1A"/>
              </a:solidFill>
              <a:ln w="12700">
                <a:solidFill>
                  <a:srgbClr val="1A1A1A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ko-KR" altLang="en-US" sz="140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0E53EFD5-A052-95CB-DFCC-14002D20D15B}"/>
              </a:ext>
            </a:extLst>
          </p:cNvPr>
          <p:cNvGrpSpPr/>
          <p:nvPr/>
        </p:nvGrpSpPr>
        <p:grpSpPr>
          <a:xfrm>
            <a:off x="800100" y="2734417"/>
            <a:ext cx="10782604" cy="1116635"/>
            <a:chOff x="800100" y="2938424"/>
            <a:chExt cx="10782604" cy="1340967"/>
          </a:xfrm>
        </p:grpSpPr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AC667DBA-019A-D371-1B40-F14F6E265E0F}"/>
                </a:ext>
              </a:extLst>
            </p:cNvPr>
            <p:cNvSpPr txBox="1"/>
            <p:nvPr/>
          </p:nvSpPr>
          <p:spPr>
            <a:xfrm>
              <a:off x="800100" y="2938424"/>
              <a:ext cx="571500" cy="26700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0</a:t>
              </a:r>
              <a:r>
                <a:rPr lang="en-US" altLang="ko-KR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2</a:t>
              </a:r>
              <a:endParaRPr lang="en-US" sz="2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7" name="Text 16">
              <a:extLst>
                <a:ext uri="{FF2B5EF4-FFF2-40B4-BE49-F238E27FC236}">
                  <a16:creationId xmlns:a16="http://schemas.microsoft.com/office/drawing/2014/main" id="{4ACF29FF-8DF4-3F16-EB2F-FE0DEC0EAF20}"/>
                </a:ext>
              </a:extLst>
            </p:cNvPr>
            <p:cNvSpPr txBox="1"/>
            <p:nvPr/>
          </p:nvSpPr>
          <p:spPr>
            <a:xfrm>
              <a:off x="1410005" y="2969511"/>
              <a:ext cx="6477610" cy="18105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AI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활용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A1A1A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방식</a:t>
              </a:r>
              <a:endParaRPr lang="en-US" sz="1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ED65CC9F-0BF0-52BB-00B5-5E86A0145C6F}"/>
                </a:ext>
              </a:extLst>
            </p:cNvPr>
            <p:cNvGrpSpPr/>
            <p:nvPr/>
          </p:nvGrpSpPr>
          <p:grpSpPr>
            <a:xfrm>
              <a:off x="8134502" y="3240175"/>
              <a:ext cx="3448202" cy="1039216"/>
              <a:chOff x="8134502" y="1383487"/>
              <a:chExt cx="3448202" cy="647395"/>
            </a:xfrm>
          </p:grpSpPr>
          <p:pic>
            <p:nvPicPr>
              <p:cNvPr id="120" name="Image 9" descr="gen-dedup-a4f779325862798106cab1a6fb4b41f4.png">
                <a:extLst>
                  <a:ext uri="{FF2B5EF4-FFF2-40B4-BE49-F238E27FC236}">
                    <a16:creationId xmlns:a16="http://schemas.microsoft.com/office/drawing/2014/main" id="{3E6F1A44-D193-5C6C-2B40-0B09E31330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-26" r="-26"/>
              <a:stretch/>
            </p:blipFill>
            <p:spPr>
              <a:xfrm>
                <a:off x="8134502" y="1383487"/>
                <a:ext cx="3448202" cy="647395"/>
              </a:xfrm>
              <a:prstGeom prst="rect">
                <a:avLst/>
              </a:prstGeom>
            </p:spPr>
          </p:pic>
          <p:sp>
            <p:nvSpPr>
              <p:cNvPr id="121" name="Text 19">
                <a:extLst>
                  <a:ext uri="{FF2B5EF4-FFF2-40B4-BE49-F238E27FC236}">
                    <a16:creationId xmlns:a16="http://schemas.microsoft.com/office/drawing/2014/main" id="{36A6B5D9-D23C-FFD3-5537-0FC2F49E51AC}"/>
                  </a:ext>
                </a:extLst>
              </p:cNvPr>
              <p:cNvSpPr txBox="1"/>
              <p:nvPr/>
            </p:nvSpPr>
            <p:spPr>
              <a:xfrm>
                <a:off x="8287206" y="1450238"/>
                <a:ext cx="3162910" cy="10515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400" b="1" kern="0" spc="142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왜 작성하는가?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22" name="Text 20">
                <a:extLst>
                  <a:ext uri="{FF2B5EF4-FFF2-40B4-BE49-F238E27FC236}">
                    <a16:creationId xmlns:a16="http://schemas.microsoft.com/office/drawing/2014/main" id="{4F0AAA9C-8791-A60D-D529-2A9DB4AD1359}"/>
                  </a:ext>
                </a:extLst>
              </p:cNvPr>
              <p:cNvSpPr txBox="1"/>
              <p:nvPr/>
            </p:nvSpPr>
            <p:spPr>
              <a:xfrm>
                <a:off x="8287206" y="1703984"/>
                <a:ext cx="3162910" cy="3145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ts val="1238"/>
                  </a:lnSpc>
                </a:pP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기능을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고르는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순간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‘AI </a:t>
                </a:r>
                <a:r>
                  <a:rPr lang="en-US" altLang="ko-KR" sz="1200" b="1" dirty="0" err="1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적용</a:t>
                </a:r>
                <a:r>
                  <a:rPr lang="en-US" altLang="ko-KR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b="1" dirty="0" err="1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가능성’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을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스스로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판단하게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됩니다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. 이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선택이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곧 AI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활용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방식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설계입니다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.</a:t>
                </a:r>
                <a:endParaRPr lang="en-US" altLang="ko-KR" sz="12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87DEDDD4-7F8E-9774-58DB-6DECF9224E00}"/>
                </a:ext>
              </a:extLst>
            </p:cNvPr>
            <p:cNvSpPr/>
            <p:nvPr/>
          </p:nvSpPr>
          <p:spPr>
            <a:xfrm>
              <a:off x="800253" y="3240175"/>
              <a:ext cx="7201661" cy="1039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□  H-Chat </a:t>
              </a:r>
              <a:r>
                <a:rPr kumimoji="0" lang="en-US" altLang="ko-KR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프로젝트</a:t>
              </a: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  □  CLAUDE.md (AI </a:t>
              </a:r>
              <a:r>
                <a:rPr kumimoji="0" lang="en-US" altLang="ko-KR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지침</a:t>
              </a: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)   □  Skill   □  Sub-agent  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□  </a:t>
              </a:r>
              <a:r>
                <a:rPr kumimoji="0" lang="en-US" altLang="ko-KR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대시보드</a:t>
              </a: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□ </a:t>
              </a:r>
              <a:r>
                <a: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기타</a:t>
              </a:r>
              <a:r>
                <a:rPr kumimoji="0" lang="en-US" altLang="ko-KR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(    )</a:t>
              </a:r>
              <a:endParaRPr lang="ko-KR" altLang="en-US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B9718D90-B361-AB3B-458C-CC409CEBB1FD}"/>
              </a:ext>
            </a:extLst>
          </p:cNvPr>
          <p:cNvGrpSpPr/>
          <p:nvPr/>
        </p:nvGrpSpPr>
        <p:grpSpPr>
          <a:xfrm>
            <a:off x="800100" y="4066600"/>
            <a:ext cx="10782604" cy="1116635"/>
            <a:chOff x="800100" y="4448706"/>
            <a:chExt cx="10782604" cy="1340967"/>
          </a:xfrm>
        </p:grpSpPr>
        <p:sp>
          <p:nvSpPr>
            <p:cNvPr id="126" name="Text 14">
              <a:extLst>
                <a:ext uri="{FF2B5EF4-FFF2-40B4-BE49-F238E27FC236}">
                  <a16:creationId xmlns:a16="http://schemas.microsoft.com/office/drawing/2014/main" id="{125DBA5C-B5C4-D8CD-57D5-5102922C08DD}"/>
                </a:ext>
              </a:extLst>
            </p:cNvPr>
            <p:cNvSpPr txBox="1"/>
            <p:nvPr/>
          </p:nvSpPr>
          <p:spPr>
            <a:xfrm>
              <a:off x="800100" y="4448706"/>
              <a:ext cx="571500" cy="26700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0</a:t>
              </a:r>
              <a:r>
                <a:rPr lang="en-US" altLang="ko-KR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3</a:t>
              </a:r>
              <a:endParaRPr lang="en-US" sz="2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27" name="Text 16">
              <a:extLst>
                <a:ext uri="{FF2B5EF4-FFF2-40B4-BE49-F238E27FC236}">
                  <a16:creationId xmlns:a16="http://schemas.microsoft.com/office/drawing/2014/main" id="{29523A85-AFEF-8422-20F5-AD9F30754135}"/>
                </a:ext>
              </a:extLst>
            </p:cNvPr>
            <p:cNvSpPr txBox="1"/>
            <p:nvPr/>
          </p:nvSpPr>
          <p:spPr>
            <a:xfrm>
              <a:off x="1410005" y="4479793"/>
              <a:ext cx="6477610" cy="18105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r>
                <a:rPr lang="en-US" altLang="ko-KR" sz="1400" b="1" dirty="0" err="1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기대</a:t>
              </a:r>
              <a:r>
                <a:rPr lang="en-US" altLang="ko-KR" sz="1400" b="1" dirty="0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lang="en-US" altLang="ko-KR" sz="1400" b="1" dirty="0" err="1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결과물</a:t>
              </a:r>
              <a:r>
                <a:rPr lang="en-US" altLang="ko-KR" sz="1400" b="1" dirty="0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lang="en-US" altLang="ko-KR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(</a:t>
              </a:r>
              <a:r>
                <a:rPr lang="en-US" altLang="ko-KR" sz="1400" b="1" dirty="0" err="1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산출물</a:t>
              </a:r>
              <a:r>
                <a:rPr lang="en-US" altLang="ko-KR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1종 + </a:t>
              </a:r>
              <a:r>
                <a:rPr lang="en-US" altLang="ko-KR" sz="1400" b="1" dirty="0" err="1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절감</a:t>
              </a:r>
              <a:r>
                <a:rPr lang="en-US" altLang="ko-KR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lang="en-US" altLang="ko-KR" sz="1400" b="1" dirty="0" err="1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시간</a:t>
              </a:r>
              <a:r>
                <a:rPr lang="en-US" altLang="ko-KR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)</a:t>
              </a:r>
              <a:endPara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9238E8E3-44DF-353E-9FED-437C83BEA845}"/>
                </a:ext>
              </a:extLst>
            </p:cNvPr>
            <p:cNvGrpSpPr/>
            <p:nvPr/>
          </p:nvGrpSpPr>
          <p:grpSpPr>
            <a:xfrm>
              <a:off x="8134502" y="4750457"/>
              <a:ext cx="3448202" cy="1039216"/>
              <a:chOff x="8134502" y="1383487"/>
              <a:chExt cx="3448202" cy="647395"/>
            </a:xfrm>
          </p:grpSpPr>
          <p:pic>
            <p:nvPicPr>
              <p:cNvPr id="129" name="Image 9" descr="gen-dedup-a4f779325862798106cab1a6fb4b41f4.png">
                <a:extLst>
                  <a:ext uri="{FF2B5EF4-FFF2-40B4-BE49-F238E27FC236}">
                    <a16:creationId xmlns:a16="http://schemas.microsoft.com/office/drawing/2014/main" id="{79FC77BF-9024-742E-A765-6F4228CC3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-26" r="-26"/>
              <a:stretch/>
            </p:blipFill>
            <p:spPr>
              <a:xfrm>
                <a:off x="8134502" y="1383487"/>
                <a:ext cx="3448202" cy="647395"/>
              </a:xfrm>
              <a:prstGeom prst="rect">
                <a:avLst/>
              </a:prstGeom>
            </p:spPr>
          </p:pic>
          <p:sp>
            <p:nvSpPr>
              <p:cNvPr id="130" name="Text 19">
                <a:extLst>
                  <a:ext uri="{FF2B5EF4-FFF2-40B4-BE49-F238E27FC236}">
                    <a16:creationId xmlns:a16="http://schemas.microsoft.com/office/drawing/2014/main" id="{DF676725-9199-0F2A-9A06-FFE5DFD16AC3}"/>
                  </a:ext>
                </a:extLst>
              </p:cNvPr>
              <p:cNvSpPr txBox="1"/>
              <p:nvPr/>
            </p:nvSpPr>
            <p:spPr>
              <a:xfrm>
                <a:off x="8287206" y="1450238"/>
                <a:ext cx="3162910" cy="10515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400" b="1" kern="0" spc="142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왜 작성하는가?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31" name="Text 20">
                <a:extLst>
                  <a:ext uri="{FF2B5EF4-FFF2-40B4-BE49-F238E27FC236}">
                    <a16:creationId xmlns:a16="http://schemas.microsoft.com/office/drawing/2014/main" id="{672A72BB-CC65-C0F2-B392-4C6219AF9203}"/>
                  </a:ext>
                </a:extLst>
              </p:cNvPr>
              <p:cNvSpPr txBox="1"/>
              <p:nvPr/>
            </p:nvSpPr>
            <p:spPr>
              <a:xfrm>
                <a:off x="8287206" y="1703984"/>
                <a:ext cx="3162910" cy="3145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결과물을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b="1" dirty="0" err="1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하나로</a:t>
                </a:r>
                <a:r>
                  <a:rPr lang="en-US" altLang="ko-KR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ko-KR" altLang="en-US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지정해</a:t>
                </a:r>
                <a:r>
                  <a:rPr lang="en-US" altLang="ko-KR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야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‘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작게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시작’이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가능하고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효과를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측정할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수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있습니다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.</a:t>
                </a:r>
                <a:endParaRPr lang="en-US" altLang="ko-KR" sz="12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C024829E-470C-C944-8F00-2BAB23ED860F}"/>
                </a:ext>
              </a:extLst>
            </p:cNvPr>
            <p:cNvSpPr/>
            <p:nvPr/>
          </p:nvSpPr>
          <p:spPr>
            <a:xfrm>
              <a:off x="800253" y="4750457"/>
              <a:ext cx="7201661" cy="1039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ko-KR" altLang="en-US" sz="1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3" name="Text 17">
              <a:extLst>
                <a:ext uri="{FF2B5EF4-FFF2-40B4-BE49-F238E27FC236}">
                  <a16:creationId xmlns:a16="http://schemas.microsoft.com/office/drawing/2014/main" id="{86C3863E-1CD4-C5F9-779F-9FF4C2EF0D7C}"/>
                </a:ext>
              </a:extLst>
            </p:cNvPr>
            <p:cNvSpPr txBox="1"/>
            <p:nvPr/>
          </p:nvSpPr>
          <p:spPr>
            <a:xfrm>
              <a:off x="923696" y="4805324"/>
              <a:ext cx="6477610" cy="16276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예시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: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작성 항목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: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결과물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1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종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(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회의록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·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대시보드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·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보고서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·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메일 초안 등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) +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시간 절감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N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분</a:t>
              </a:r>
              <a:endPara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382BBECE-29A6-53B5-7BDC-0156257788CC}"/>
              </a:ext>
            </a:extLst>
          </p:cNvPr>
          <p:cNvGrpSpPr/>
          <p:nvPr/>
        </p:nvGrpSpPr>
        <p:grpSpPr>
          <a:xfrm>
            <a:off x="800100" y="1402233"/>
            <a:ext cx="10782604" cy="1116635"/>
            <a:chOff x="800100" y="1402233"/>
            <a:chExt cx="10782604" cy="1340967"/>
          </a:xfrm>
        </p:grpSpPr>
        <p:sp>
          <p:nvSpPr>
            <p:cNvPr id="32" name="Text 14"/>
            <p:cNvSpPr txBox="1"/>
            <p:nvPr/>
          </p:nvSpPr>
          <p:spPr>
            <a:xfrm>
              <a:off x="800100" y="1402233"/>
              <a:ext cx="571500" cy="26700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01</a:t>
              </a:r>
              <a:endParaRPr lang="en-US" sz="2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4" name="Text 16"/>
            <p:cNvSpPr txBox="1"/>
            <p:nvPr/>
          </p:nvSpPr>
          <p:spPr>
            <a:xfrm>
              <a:off x="1410005" y="1433320"/>
              <a:ext cx="6477610" cy="18105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문제 정의 </a:t>
              </a:r>
              <a:r>
                <a:rPr lang="en-US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(1~2줄)</a:t>
              </a:r>
              <a:endParaRPr lang="en-US" sz="1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AD2FB69B-7F0B-9C1E-16C6-C06DDCC20848}"/>
                </a:ext>
              </a:extLst>
            </p:cNvPr>
            <p:cNvGrpSpPr/>
            <p:nvPr/>
          </p:nvGrpSpPr>
          <p:grpSpPr>
            <a:xfrm>
              <a:off x="8134502" y="1703984"/>
              <a:ext cx="3448202" cy="1039216"/>
              <a:chOff x="8134502" y="1383487"/>
              <a:chExt cx="3448202" cy="647395"/>
            </a:xfrm>
          </p:grpSpPr>
          <p:pic>
            <p:nvPicPr>
              <p:cNvPr id="12" name="Image 9" descr="gen-dedup-a4f779325862798106cab1a6fb4b41f4.png"/>
              <p:cNvPicPr>
                <a:picLocks noChangeAspect="1"/>
              </p:cNvPicPr>
              <p:nvPr/>
            </p:nvPicPr>
            <p:blipFill>
              <a:blip r:embed="rId4"/>
              <a:srcRect l="-26" r="-26"/>
              <a:stretch/>
            </p:blipFill>
            <p:spPr>
              <a:xfrm>
                <a:off x="8134502" y="1383487"/>
                <a:ext cx="3448202" cy="647395"/>
              </a:xfrm>
              <a:prstGeom prst="rect">
                <a:avLst/>
              </a:prstGeom>
            </p:spPr>
          </p:pic>
          <p:sp>
            <p:nvSpPr>
              <p:cNvPr id="37" name="Text 19"/>
              <p:cNvSpPr txBox="1"/>
              <p:nvPr/>
            </p:nvSpPr>
            <p:spPr>
              <a:xfrm>
                <a:off x="8287206" y="1450238"/>
                <a:ext cx="3162910" cy="10515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400" b="1" kern="0" spc="142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왜 작성하는가?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8" name="Text 20"/>
              <p:cNvSpPr txBox="1"/>
              <p:nvPr/>
            </p:nvSpPr>
            <p:spPr>
              <a:xfrm>
                <a:off x="8287206" y="1703984"/>
                <a:ext cx="3162910" cy="3145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ts val="1238"/>
                  </a:lnSpc>
                  <a:buNone/>
                </a:pPr>
                <a:r>
                  <a:rPr lang="en-US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문제가 명확해야 </a:t>
                </a:r>
                <a:r>
                  <a:rPr lang="en-US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AI 적용 지점</a:t>
                </a:r>
                <a:r>
                  <a:rPr lang="en-US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이 보입니다. </a:t>
                </a:r>
              </a:p>
              <a:p>
                <a:pPr marL="0" indent="0" algn="l">
                  <a:lnSpc>
                    <a:spcPts val="1238"/>
                  </a:lnSpc>
                  <a:buNone/>
                </a:pPr>
                <a:r>
                  <a:rPr lang="en-US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반복·수작업·시간</a:t>
                </a:r>
                <a:r>
                  <a:rPr lang="en-US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소요 업무 </a:t>
                </a:r>
                <a:r>
                  <a:rPr lang="en-US" sz="1200" b="1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1개만</a:t>
                </a:r>
                <a:r>
                  <a:rPr lang="en-US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고르세요.</a:t>
                </a:r>
                <a:endParaRPr lang="en-US" sz="12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5448C189-BDB2-55D2-2B64-4E7198BE215F}"/>
                </a:ext>
              </a:extLst>
            </p:cNvPr>
            <p:cNvSpPr/>
            <p:nvPr/>
          </p:nvSpPr>
          <p:spPr>
            <a:xfrm>
              <a:off x="800253" y="1703984"/>
              <a:ext cx="7201661" cy="1039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sz="11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35" name="Text 17"/>
            <p:cNvSpPr txBox="1"/>
            <p:nvPr/>
          </p:nvSpPr>
          <p:spPr>
            <a:xfrm>
              <a:off x="918896" y="1775913"/>
              <a:ext cx="6477610" cy="16276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예시 </a:t>
              </a:r>
              <a:r>
                <a:rPr 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: 『업무명』을 매 『주기』 하는 데 『N분』이 걸린다 — 한 줄로 정의</a:t>
              </a:r>
              <a:endParaRPr 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DF6A92DE-B7C4-1594-6158-13C200DAF511}"/>
              </a:ext>
            </a:extLst>
          </p:cNvPr>
          <p:cNvGrpSpPr/>
          <p:nvPr/>
        </p:nvGrpSpPr>
        <p:grpSpPr>
          <a:xfrm>
            <a:off x="800100" y="5295325"/>
            <a:ext cx="10782604" cy="1116635"/>
            <a:chOff x="800100" y="4448706"/>
            <a:chExt cx="10782604" cy="1340967"/>
          </a:xfrm>
        </p:grpSpPr>
        <p:sp>
          <p:nvSpPr>
            <p:cNvPr id="147" name="Text 14">
              <a:extLst>
                <a:ext uri="{FF2B5EF4-FFF2-40B4-BE49-F238E27FC236}">
                  <a16:creationId xmlns:a16="http://schemas.microsoft.com/office/drawing/2014/main" id="{81BE0952-F06C-C2DD-D21D-B9F6E52C0595}"/>
                </a:ext>
              </a:extLst>
            </p:cNvPr>
            <p:cNvSpPr txBox="1"/>
            <p:nvPr/>
          </p:nvSpPr>
          <p:spPr>
            <a:xfrm>
              <a:off x="800100" y="4448706"/>
              <a:ext cx="571500" cy="26700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en-US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0</a:t>
              </a:r>
              <a:r>
                <a:rPr lang="en-US" altLang="ko-KR" sz="2400" b="1" kern="0" spc="-84" dirty="0">
                  <a:solidFill>
                    <a:srgbClr val="164194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4</a:t>
              </a:r>
              <a:endParaRPr lang="en-US" sz="2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48" name="Text 16">
              <a:extLst>
                <a:ext uri="{FF2B5EF4-FFF2-40B4-BE49-F238E27FC236}">
                  <a16:creationId xmlns:a16="http://schemas.microsoft.com/office/drawing/2014/main" id="{BCECAD95-C7DE-61E8-D74F-41502FCC10F1}"/>
                </a:ext>
              </a:extLst>
            </p:cNvPr>
            <p:cNvSpPr txBox="1"/>
            <p:nvPr/>
          </p:nvSpPr>
          <p:spPr>
            <a:xfrm>
              <a:off x="1410005" y="4479793"/>
              <a:ext cx="6477610" cy="181051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r>
                <a:rPr lang="en-US" altLang="ko-KR" sz="1400" b="1" dirty="0" err="1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검증</a:t>
              </a:r>
              <a:r>
                <a:rPr lang="en-US" altLang="ko-KR" sz="1400" b="1" dirty="0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lang="en-US" altLang="ko-KR" sz="1400" b="1" dirty="0" err="1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방법</a:t>
              </a:r>
              <a:r>
                <a:rPr lang="en-US" altLang="ko-KR" sz="1400" b="1" dirty="0">
                  <a:solidFill>
                    <a:srgbClr val="1A1A1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 </a:t>
              </a:r>
              <a:r>
                <a:rPr lang="en-US" altLang="ko-KR" sz="1400" b="1" dirty="0">
                  <a:solidFill>
                    <a:srgbClr val="9AA6B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(1줄)</a:t>
              </a:r>
              <a:endPara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149" name="그룹 148">
              <a:extLst>
                <a:ext uri="{FF2B5EF4-FFF2-40B4-BE49-F238E27FC236}">
                  <a16:creationId xmlns:a16="http://schemas.microsoft.com/office/drawing/2014/main" id="{AD429105-812B-C678-9A64-C4F43615B915}"/>
                </a:ext>
              </a:extLst>
            </p:cNvPr>
            <p:cNvGrpSpPr/>
            <p:nvPr/>
          </p:nvGrpSpPr>
          <p:grpSpPr>
            <a:xfrm>
              <a:off x="8134502" y="4750457"/>
              <a:ext cx="3448202" cy="1039216"/>
              <a:chOff x="8134502" y="1383487"/>
              <a:chExt cx="3448202" cy="647395"/>
            </a:xfrm>
          </p:grpSpPr>
          <p:pic>
            <p:nvPicPr>
              <p:cNvPr id="152" name="Image 9" descr="gen-dedup-a4f779325862798106cab1a6fb4b41f4.png">
                <a:extLst>
                  <a:ext uri="{FF2B5EF4-FFF2-40B4-BE49-F238E27FC236}">
                    <a16:creationId xmlns:a16="http://schemas.microsoft.com/office/drawing/2014/main" id="{5AA7658E-D20A-C148-5C01-95F962FF8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-26" r="-26"/>
              <a:stretch/>
            </p:blipFill>
            <p:spPr>
              <a:xfrm>
                <a:off x="8134502" y="1383487"/>
                <a:ext cx="3448202" cy="647395"/>
              </a:xfrm>
              <a:prstGeom prst="rect">
                <a:avLst/>
              </a:prstGeom>
            </p:spPr>
          </p:pic>
          <p:sp>
            <p:nvSpPr>
              <p:cNvPr id="153" name="Text 19">
                <a:extLst>
                  <a:ext uri="{FF2B5EF4-FFF2-40B4-BE49-F238E27FC236}">
                    <a16:creationId xmlns:a16="http://schemas.microsoft.com/office/drawing/2014/main" id="{DE6D9536-050C-0CFE-182A-33B1BCD3C1F8}"/>
                  </a:ext>
                </a:extLst>
              </p:cNvPr>
              <p:cNvSpPr txBox="1"/>
              <p:nvPr/>
            </p:nvSpPr>
            <p:spPr>
              <a:xfrm>
                <a:off x="8287206" y="1450238"/>
                <a:ext cx="3162910" cy="10515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400" b="1" kern="0" spc="142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왜 작성하는가?</a:t>
                </a:r>
                <a:endParaRPr lang="en-US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54" name="Text 20">
                <a:extLst>
                  <a:ext uri="{FF2B5EF4-FFF2-40B4-BE49-F238E27FC236}">
                    <a16:creationId xmlns:a16="http://schemas.microsoft.com/office/drawing/2014/main" id="{0EA5EACC-5BB8-E392-8423-EA0A274E8B9E}"/>
                  </a:ext>
                </a:extLst>
              </p:cNvPr>
              <p:cNvSpPr txBox="1"/>
              <p:nvPr/>
            </p:nvSpPr>
            <p:spPr>
              <a:xfrm>
                <a:off x="8287206" y="1703984"/>
                <a:ext cx="3162910" cy="31455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ts val="1238"/>
                  </a:lnSpc>
                </a:pP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효과를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b="1" dirty="0" err="1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측정할</a:t>
                </a:r>
                <a:r>
                  <a:rPr lang="en-US" altLang="ko-KR" sz="1200" b="1" dirty="0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수 </a:t>
                </a:r>
                <a:r>
                  <a:rPr lang="en-US" altLang="ko-KR" sz="1200" b="1" dirty="0" err="1">
                    <a:solidFill>
                      <a:srgbClr val="70AD47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있어야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인정받습니다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. </a:t>
                </a:r>
              </a:p>
              <a:p>
                <a:pPr>
                  <a:lnSpc>
                    <a:spcPts val="1238"/>
                  </a:lnSpc>
                </a:pPr>
                <a:r>
                  <a:rPr lang="en-US" altLang="ko-KR" sz="1200" b="1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‘</a:t>
                </a:r>
                <a:r>
                  <a:rPr lang="en-US" altLang="ko-KR" sz="1200" b="1" dirty="0" err="1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사람</a:t>
                </a:r>
                <a:r>
                  <a:rPr lang="en-US" altLang="ko-KR" sz="1200" b="1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</a:t>
                </a:r>
                <a:r>
                  <a:rPr lang="en-US" altLang="ko-KR" sz="1200" b="1" dirty="0" err="1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검토’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를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 꼭 </a:t>
                </a:r>
                <a:r>
                  <a:rPr lang="en-US" altLang="ko-KR" sz="1200" dirty="0" err="1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포함하세요</a:t>
                </a:r>
                <a:r>
                  <a:rPr lang="en-US" altLang="ko-KR" sz="1200" dirty="0">
                    <a:solidFill>
                      <a:srgbClr val="1A1A1A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  <a:cs typeface="Pretendard Variable" pitchFamily="34" charset="-120"/>
                  </a:rPr>
                  <a:t>.</a:t>
                </a:r>
                <a:endParaRPr lang="en-US" altLang="ko-KR" sz="12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6ED63E20-D528-92FD-4C65-46E650A50D2C}"/>
                </a:ext>
              </a:extLst>
            </p:cNvPr>
            <p:cNvSpPr/>
            <p:nvPr/>
          </p:nvSpPr>
          <p:spPr>
            <a:xfrm>
              <a:off x="800253" y="4750457"/>
              <a:ext cx="7201661" cy="1039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ko-KR" altLang="en-US" sz="11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51" name="Text 17">
              <a:extLst>
                <a:ext uri="{FF2B5EF4-FFF2-40B4-BE49-F238E27FC236}">
                  <a16:creationId xmlns:a16="http://schemas.microsoft.com/office/drawing/2014/main" id="{D67BE580-0825-813D-C328-D113BA853F0E}"/>
                </a:ext>
              </a:extLst>
            </p:cNvPr>
            <p:cNvSpPr txBox="1"/>
            <p:nvPr/>
          </p:nvSpPr>
          <p:spPr>
            <a:xfrm>
              <a:off x="923696" y="4805324"/>
              <a:ext cx="6477610" cy="16276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marL="0" indent="0" algn="l">
                <a:buNone/>
              </a:pP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예시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: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어떤 지표로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/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누가 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/ 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Variable" pitchFamily="34" charset="-120"/>
                </a:rPr>
                <a:t>언제 확인할지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5e6bf14-f0cc-4b61-b411-2df49da90bc6}" enabled="1" method="Privileged" siteId="{4b50f211-1db9-4c8b-9949-db2761998fb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204</Words>
  <Application>Microsoft Office PowerPoint</Application>
  <PresentationFormat>와이드스크린</PresentationFormat>
  <Paragraphs>28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Theme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이덕웅 책임매니저 SW기술교육팀 NGV</cp:lastModifiedBy>
  <cp:revision>5</cp:revision>
  <dcterms:created xsi:type="dcterms:W3CDTF">2026-09-06T04:51:27Z</dcterms:created>
  <dcterms:modified xsi:type="dcterms:W3CDTF">2026-09-06T05:09:04Z</dcterms:modified>
</cp:coreProperties>
</file>